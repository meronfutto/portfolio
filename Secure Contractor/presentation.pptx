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4" r:id="rId2"/>
    <p:sldId id="268" r:id="rId3"/>
    <p:sldId id="280" r:id="rId4"/>
    <p:sldId id="269" r:id="rId5"/>
    <p:sldId id="275" r:id="rId6"/>
    <p:sldId id="270" r:id="rId7"/>
    <p:sldId id="271" r:id="rId8"/>
    <p:sldId id="273" r:id="rId9"/>
    <p:sldId id="277" r:id="rId10"/>
    <p:sldId id="278" r:id="rId11"/>
    <p:sldId id="274" r:id="rId12"/>
    <p:sldId id="279" r:id="rId13"/>
    <p:sldId id="281" r:id="rId14"/>
    <p:sldId id="282" r:id="rId15"/>
    <p:sldId id="283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4320" userDrawn="1">
          <p15:clr>
            <a:srgbClr val="A4A3A4"/>
          </p15:clr>
        </p15:guide>
        <p15:guide id="4" userDrawn="1">
          <p15:clr>
            <a:srgbClr val="A4A3A4"/>
          </p15:clr>
        </p15:guide>
        <p15:guide id="5" pos="3840" userDrawn="1">
          <p15:clr>
            <a:srgbClr val="A4A3A4"/>
          </p15:clr>
        </p15:guide>
        <p15:guide id="6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DFAB"/>
    <a:srgbClr val="D5B2AB"/>
    <a:srgbClr val="EDC5A2"/>
    <a:srgbClr val="E5C7D7"/>
    <a:srgbClr val="C7B7DB"/>
    <a:srgbClr val="E8AFC2"/>
    <a:srgbClr val="AFC8DF"/>
    <a:srgbClr val="A9D8CB"/>
    <a:srgbClr val="E7664C"/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951" autoAdjust="0"/>
  </p:normalViewPr>
  <p:slideViewPr>
    <p:cSldViewPr snapToGrid="0" showGuides="1">
      <p:cViewPr varScale="1">
        <p:scale>
          <a:sx n="70" d="100"/>
          <a:sy n="70" d="100"/>
        </p:scale>
        <p:origin x="536" y="52"/>
      </p:cViewPr>
      <p:guideLst>
        <p:guide orient="horz" pos="4320"/>
        <p:guide/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65D9E0-99A2-42EF-9383-0DF850870EE3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558357-E665-40AB-854D-F839664539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2809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58357-E665-40AB-854D-F83966453941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57975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58357-E665-40AB-854D-F83966453941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70771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58357-E665-40AB-854D-F83966453941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09893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58357-E665-40AB-854D-F83966453941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7246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5AE35-9863-1F03-98F1-1FDF16BF2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1BC300B-AB05-406A-5E7D-C2199DFAC3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E8EE3A3-C6FC-B2E1-0898-DED41AA0B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0379FB3-3F4E-17E0-E108-03BA723936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58357-E665-40AB-854D-F83966453941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3761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E0263C-02B7-8B05-69B2-B2927F6F6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AA3209E-0349-691B-416B-BA6CEBAA75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BC82AB-2F03-6E03-E21B-74DDB3304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ABAC2-A021-4D51-B9E6-358CB9F25E82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ED8DE95-7E71-8057-DFDB-3520EF88B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E7C973-AB70-EA7F-2C44-16407AB37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97207-1503-4E9C-A5ED-F24C396FA8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5061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1698CA-6A25-BC59-2134-86FAAD74F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D4FB79-AAFE-65B4-1D28-4FD3436D6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6B835DC-DE07-141A-A0DC-CF9FADFEE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ABAC2-A021-4D51-B9E6-358CB9F25E82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1B6D6B-75DF-CE16-4CD1-4FA86DA60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0FA794-AE1E-BA82-5B94-73593EEEC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97207-1503-4E9C-A5ED-F24C396FA8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1798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EDFDD3-8182-049D-1175-9BB8BA348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F7A830-07BB-6E86-F304-FCDC59C686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8E0333-D2B7-A31E-AA0D-11D79405B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ABAC2-A021-4D51-B9E6-358CB9F25E82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483DA2-18F6-B3FC-E86F-0B7D706A1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3C9E14-F238-8C8A-5984-698E5E632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97207-1503-4E9C-A5ED-F24C396FA8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511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680D68-AD1B-2F99-BD1B-C94BB2ADD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B10674-F391-3EF9-D0FE-87D6BA2B96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666FC41-3946-8C24-6538-0492D9C614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E43173D-08AC-5311-0613-61655B060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ABAC2-A021-4D51-B9E6-358CB9F25E82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88C4BF6-8F5B-4FBA-A5B7-B08CB388D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1BEAAE3-7D0A-4A9D-F62C-8971F160B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97207-1503-4E9C-A5ED-F24C396FA8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465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26FF3A-C6D6-F1E5-8210-A6952A4A0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BC9303A-F146-5F77-F51A-EED81F44B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0260EC8-4817-7BC7-182B-22A00A613C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EFCBCF8-397F-5480-8F44-E020F30F28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EB2FF67-AD3D-9FD2-F4B4-4C1D7C2B00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825E7C6-2D42-9393-DF97-A488B5BCC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ABAC2-A021-4D51-B9E6-358CB9F25E82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613228E-186D-BEAE-7AC1-2CAADC98A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58EDC53-D43D-4894-E0DC-808F535F7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97207-1503-4E9C-A5ED-F24C396FA8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6555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E7D5A8-AE54-50A3-A9AE-A533764E1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763794E-11B2-6158-6D23-A2B628934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ABAC2-A021-4D51-B9E6-358CB9F25E82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9135869-837D-42ED-7ED8-BB1209938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71B5D5A-1771-BEFD-EA4A-2EA3A195B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97207-1503-4E9C-A5ED-F24C396FA8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18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D8B59BA-312B-5B76-A28A-A5FB79971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ABAC2-A021-4D51-B9E6-358CB9F25E82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070ACA3-84A7-8AAB-C6F6-3F676C618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09F36FD-6AD0-7383-9DD1-C728B83D1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97207-1503-4E9C-A5ED-F24C396FA8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4195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D11AD9-113D-705D-013C-F9C162E66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BA6BA0-1999-ABA6-FE49-F4940ED14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6E9CB9B-FBAF-1AE8-AEF5-E4029D5F28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48A71A0-37C6-A429-BDE1-3920A04FE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ABAC2-A021-4D51-B9E6-358CB9F25E82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5F5707E-F912-B167-C4BA-10C3CF8EC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F5E5D62-F2F0-BB59-5C46-80310E01A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97207-1503-4E9C-A5ED-F24C396FA8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2040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C07D31-A7AE-22FD-D71A-0D4546582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D548C93-8843-89C4-0DDB-0F718ADEAC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090AD77-B8D4-643B-6814-D88BC57272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B7901D1-2F7D-2C86-56DB-8DEC2E304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ABAC2-A021-4D51-B9E6-358CB9F25E82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60F47C9-881C-A2E4-7A25-84CE080FD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2F54110-C6F9-E5E7-779F-A1BC26B3D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97207-1503-4E9C-A5ED-F24C396FA8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1895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695DC6-8B25-27BE-5982-AF1D00D7A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74E938A-6D2B-52BD-999D-93B8B06011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9909FA-9BD2-C4A8-AD69-3DD59EC5F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ABAC2-A021-4D51-B9E6-358CB9F25E82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5E2669-5FF2-83D7-43F7-BF1881CDC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BF370B-1DF4-8128-6694-AAEBB1898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97207-1503-4E9C-A5ED-F24C396FA8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006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4E84538-C46E-838A-EE47-10C9AFE09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45FAFFE-2F30-4D5D-E29C-8BA3538ADF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CFF68C2-4192-4CB8-2731-9066EF362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ABAC2-A021-4D51-B9E6-358CB9F25E82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B011ED-600C-2AC0-A9D4-810855D01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3B8D01-FB3A-3403-143D-877530C7A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97207-1503-4E9C-A5ED-F24C396FA8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4441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7F4FBA-D069-0BB4-0246-A3FECF6E5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CD28959-BA05-C840-60C0-D3C0EDACE2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294050-17B8-2058-FFE7-A7729657FA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8ABAC2-A021-4D51-B9E6-358CB9F25E82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228A8A-AECE-553E-70F1-91D6923EB8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5ABD00-EE23-B416-8787-B0F1AF1A69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697207-1503-4E9C-A5ED-F24C396FA8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231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5.sv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10" Type="http://schemas.openxmlformats.org/officeDocument/2006/relationships/image" Target="../media/image11.svg"/><Relationship Id="rId4" Type="http://schemas.openxmlformats.org/officeDocument/2006/relationships/image" Target="../media/image6.svg"/><Relationship Id="rId9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11" Type="http://schemas.openxmlformats.org/officeDocument/2006/relationships/image" Target="../media/image15.svg"/><Relationship Id="rId5" Type="http://schemas.openxmlformats.org/officeDocument/2006/relationships/image" Target="../media/image8.svg"/><Relationship Id="rId10" Type="http://schemas.openxmlformats.org/officeDocument/2006/relationships/image" Target="../media/image14.svg"/><Relationship Id="rId4" Type="http://schemas.openxmlformats.org/officeDocument/2006/relationships/image" Target="../media/image7.svg"/><Relationship Id="rId9" Type="http://schemas.microsoft.com/office/2007/relationships/hdphoto" Target="../media/hdphoto3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4AA55-E96A-6C2E-1D17-752EAC713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EA7A13-2260-0F60-DFB0-7DC85E2E2E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58400" y="2235200"/>
            <a:ext cx="11698759" cy="2387600"/>
          </a:xfrm>
          <a:scene3d>
            <a:camera prst="orthographicFront">
              <a:rot lat="0" lon="0" rev="0"/>
            </a:camera>
            <a:lightRig rig="threePt" dir="t"/>
          </a:scene3d>
          <a:sp3d z="177800"/>
        </p:spPr>
        <p:txBody>
          <a:bodyPr>
            <a:normAutofit fontScale="90000"/>
          </a:bodyPr>
          <a:lstStyle/>
          <a:p>
            <a:pPr algn="r"/>
            <a:r>
              <a:rPr lang="ru-RU" sz="4900" dirty="0">
                <a:gradFill>
                  <a:gsLst>
                    <a:gs pos="0">
                      <a:srgbClr val="B9E901"/>
                    </a:gs>
                    <a:gs pos="100000">
                      <a:srgbClr val="92D050"/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Проект</a:t>
            </a:r>
            <a:br>
              <a:rPr lang="ru-RU" sz="8000" dirty="0">
                <a:gradFill>
                  <a:gsLst>
                    <a:gs pos="0">
                      <a:srgbClr val="B9E901"/>
                    </a:gs>
                    <a:gs pos="100000">
                      <a:srgbClr val="92D050"/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</a:br>
            <a:r>
              <a:rPr lang="ru-RU" sz="8000" dirty="0">
                <a:gradFill>
                  <a:gsLst>
                    <a:gs pos="0">
                      <a:srgbClr val="B9E901"/>
                    </a:gs>
                    <a:gs pos="100000">
                      <a:srgbClr val="92D050"/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«Безопасный подрядчик»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6D6040-490C-9C94-FB57-0CC87F05E75E}"/>
              </a:ext>
            </a:extLst>
          </p:cNvPr>
          <p:cNvSpPr txBox="1"/>
          <p:nvPr/>
        </p:nvSpPr>
        <p:spPr>
          <a:xfrm>
            <a:off x="971909" y="5283317"/>
            <a:ext cx="102481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Выполнили студенты </a:t>
            </a:r>
          </a:p>
          <a:p>
            <a:pPr algn="ctr"/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гр. 5151003/40003 Крот Н. А., Воронов Р. Д., </a:t>
            </a:r>
          </a:p>
          <a:p>
            <a:pPr algn="ctr"/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Карпенко В. А., Корпусов Д. Н., Мокерова К. А., </a:t>
            </a:r>
          </a:p>
          <a:p>
            <a:pPr algn="ctr"/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гр. 5151001/40002 Симанов М.А.</a:t>
            </a:r>
          </a:p>
          <a:p>
            <a:pPr algn="ctr"/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гр. 5130904/40002 Швецова М. С.</a:t>
            </a:r>
          </a:p>
        </p:txBody>
      </p:sp>
      <p:pic>
        <p:nvPicPr>
          <p:cNvPr id="23" name="Рисунок 22" descr="Циклическая блок-схема">
            <a:extLst>
              <a:ext uri="{FF2B5EF4-FFF2-40B4-BE49-F238E27FC236}">
                <a16:creationId xmlns:a16="http://schemas.microsoft.com/office/drawing/2014/main" id="{332680A2-A2A5-2657-74A7-8F60DF6660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496" y="1987740"/>
            <a:ext cx="2837792" cy="2882520"/>
          </a:xfrm>
          <a:prstGeom prst="rect">
            <a:avLst/>
          </a:prstGeom>
        </p:spPr>
      </p:pic>
      <p:pic>
        <p:nvPicPr>
          <p:cNvPr id="24" name="Рисунок 23" descr="Программист">
            <a:extLst>
              <a:ext uri="{FF2B5EF4-FFF2-40B4-BE49-F238E27FC236}">
                <a16:creationId xmlns:a16="http://schemas.microsoft.com/office/drawing/2014/main" id="{7183AD85-FD84-44EC-AF0A-54F5FB842A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8438" y="2895772"/>
            <a:ext cx="1049908" cy="1066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93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3AE75-369E-1B81-C73A-8FAC19F98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91A02A5-838C-D8CB-C4E6-B35A50A45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265572" cy="6977636"/>
          </a:xfrm>
          <a:prstGeom prst="rect">
            <a:avLst/>
          </a:prstGeom>
        </p:spPr>
      </p:pic>
      <p:sp useBgFill="1"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C8E65DF1-4775-9760-CBF7-794B985D0083}"/>
              </a:ext>
            </a:extLst>
          </p:cNvPr>
          <p:cNvSpPr/>
          <p:nvPr/>
        </p:nvSpPr>
        <p:spPr>
          <a:xfrm>
            <a:off x="900020" y="2029034"/>
            <a:ext cx="5195979" cy="1973118"/>
          </a:xfrm>
          <a:prstGeom prst="roundRect">
            <a:avLst/>
          </a:prstGeom>
          <a:ln w="38100">
            <a:gradFill flip="none" rotWithShape="1">
              <a:gsLst>
                <a:gs pos="0">
                  <a:srgbClr val="212121"/>
                </a:gs>
                <a:gs pos="100000">
                  <a:srgbClr val="202020"/>
                </a:gs>
              </a:gsLst>
              <a:lin ang="16200000" scaled="1"/>
              <a:tileRect/>
            </a:gradFill>
          </a:ln>
          <a:scene3d>
            <a:camera prst="orthographicFront"/>
            <a:lightRig rig="threePt" dir="t"/>
          </a:scene3d>
          <a:sp3d>
            <a:bevelT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tabLst>
                <a:tab pos="2955925" algn="l"/>
              </a:tabLst>
            </a:pPr>
            <a:r>
              <a:rPr lang="ru-RU" sz="6600" dirty="0">
                <a:gradFill>
                  <a:gsLst>
                    <a:gs pos="0">
                      <a:srgbClr val="B9E901"/>
                    </a:gs>
                    <a:gs pos="100000">
                      <a:srgbClr val="92D050"/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на 110%</a:t>
            </a:r>
            <a:endParaRPr lang="en-US" sz="6600" dirty="0">
              <a:gradFill>
                <a:gsLst>
                  <a:gs pos="0">
                    <a:srgbClr val="B9E901"/>
                  </a:gs>
                  <a:gs pos="100000">
                    <a:srgbClr val="92D050"/>
                  </a:gs>
                </a:gsLst>
                <a:path path="circle">
                  <a:fillToRect l="50000" t="50000" r="50000" b="50000"/>
                </a:path>
              </a:gradFill>
              <a:latin typeface="Arial Black" panose="020B0A04020102020204" pitchFamily="34" charset="0"/>
            </a:endParaRPr>
          </a:p>
          <a:p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выросло число успешных атак через подрядчиков в России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5B79086C-3593-C391-B474-5FA74B392E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79622" y="-237673"/>
            <a:ext cx="6115682" cy="1630218"/>
          </a:xfrm>
          <a:scene3d>
            <a:camera prst="orthographicFront">
              <a:rot lat="0" lon="0" rev="0"/>
            </a:camera>
            <a:lightRig rig="threePt" dir="t"/>
          </a:scene3d>
          <a:sp3d z="177800"/>
        </p:spPr>
        <p:txBody>
          <a:bodyPr>
            <a:normAutofit/>
          </a:bodyPr>
          <a:lstStyle/>
          <a:p>
            <a:pPr algn="r"/>
            <a:r>
              <a:rPr lang="ru-RU" sz="4400" dirty="0">
                <a:gradFill>
                  <a:gsLst>
                    <a:gs pos="0">
                      <a:srgbClr val="B9E901"/>
                    </a:gs>
                    <a:gs pos="100000">
                      <a:srgbClr val="92D050"/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Актуальность </a:t>
            </a:r>
            <a:br>
              <a:rPr lang="ru-RU" sz="4400" dirty="0">
                <a:gradFill>
                  <a:gsLst>
                    <a:gs pos="0">
                      <a:srgbClr val="B9E901"/>
                    </a:gs>
                    <a:gs pos="100000">
                      <a:srgbClr val="92D050"/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</a:br>
            <a:r>
              <a:rPr lang="ru-RU" sz="4400" dirty="0">
                <a:gradFill>
                  <a:gsLst>
                    <a:gs pos="0">
                      <a:srgbClr val="B9E901"/>
                    </a:gs>
                    <a:gs pos="100000">
                      <a:srgbClr val="92D050"/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проблемы</a:t>
            </a:r>
            <a:endParaRPr lang="ru-RU" sz="6600" dirty="0">
              <a:gradFill>
                <a:gsLst>
                  <a:gs pos="0">
                    <a:srgbClr val="B9E901"/>
                  </a:gs>
                  <a:gs pos="100000">
                    <a:srgbClr val="92D050"/>
                  </a:gs>
                </a:gsLst>
                <a:path path="circle">
                  <a:fillToRect l="50000" t="50000" r="50000" b="50000"/>
                </a:path>
              </a:gradFill>
              <a:latin typeface="Arial Black" panose="020B0A04020102020204" pitchFamily="34" charset="0"/>
            </a:endParaRP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24B1337D-B387-D759-F764-F2316D7AD55F}"/>
              </a:ext>
            </a:extLst>
          </p:cNvPr>
          <p:cNvSpPr txBox="1">
            <a:spLocks/>
          </p:cNvSpPr>
          <p:nvPr/>
        </p:nvSpPr>
        <p:spPr>
          <a:xfrm>
            <a:off x="664345" y="4243428"/>
            <a:ext cx="3378026" cy="1630219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  <a:sp3d z="177800"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900" dirty="0">
                <a:gradFill>
                  <a:gsLst>
                    <a:gs pos="0">
                      <a:srgbClr val="B9E901"/>
                    </a:gs>
                    <a:gs pos="100000">
                      <a:srgbClr val="92D050"/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3</a:t>
            </a:r>
            <a:r>
              <a:rPr lang="ru-RU" sz="4900" dirty="0">
                <a:gradFill>
                  <a:gsLst>
                    <a:gs pos="0">
                      <a:srgbClr val="B9E901"/>
                    </a:gs>
                    <a:gs pos="100000">
                      <a:srgbClr val="92D050"/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5</a:t>
            </a:r>
            <a:r>
              <a:rPr lang="en-US" sz="4900" dirty="0">
                <a:gradFill>
                  <a:gsLst>
                    <a:gs pos="0">
                      <a:srgbClr val="B9E901"/>
                    </a:gs>
                    <a:gs pos="100000">
                      <a:srgbClr val="92D050"/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%</a:t>
            </a:r>
          </a:p>
          <a:p>
            <a:r>
              <a:rPr lang="ru-RU" sz="1600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Российских компаний столкнулись с атаками через подрядчиков</a:t>
            </a:r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99CA29B9-10A8-5465-0C8C-5F54455DAF50}"/>
              </a:ext>
            </a:extLst>
          </p:cNvPr>
          <p:cNvSpPr txBox="1">
            <a:spLocks/>
          </p:cNvSpPr>
          <p:nvPr/>
        </p:nvSpPr>
        <p:spPr>
          <a:xfrm>
            <a:off x="4443773" y="4243427"/>
            <a:ext cx="3378026" cy="1630219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  <a:sp3d z="177800"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900" dirty="0">
                <a:gradFill>
                  <a:gsLst>
                    <a:gs pos="0">
                      <a:srgbClr val="B9E901"/>
                    </a:gs>
                    <a:gs pos="100000">
                      <a:srgbClr val="92D050"/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94</a:t>
            </a:r>
            <a:r>
              <a:rPr lang="en-US" sz="4900" dirty="0">
                <a:gradFill>
                  <a:gsLst>
                    <a:gs pos="0">
                      <a:srgbClr val="B9E901"/>
                    </a:gs>
                    <a:gs pos="100000">
                      <a:srgbClr val="92D050"/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%</a:t>
            </a:r>
          </a:p>
          <a:p>
            <a:r>
              <a:rPr lang="ru-RU" sz="1600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Корпоративных сетей могут быть полностью скомпрометированы</a:t>
            </a: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4DE7F5F5-CECB-1008-2085-D4E1B522BA83}"/>
              </a:ext>
            </a:extLst>
          </p:cNvPr>
          <p:cNvSpPr txBox="1">
            <a:spLocks/>
          </p:cNvSpPr>
          <p:nvPr/>
        </p:nvSpPr>
        <p:spPr>
          <a:xfrm>
            <a:off x="8223201" y="4250236"/>
            <a:ext cx="3378026" cy="1630219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  <a:sp3d z="177800"/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300" dirty="0">
                <a:gradFill>
                  <a:gsLst>
                    <a:gs pos="0">
                      <a:srgbClr val="B9E901"/>
                    </a:gs>
                    <a:gs pos="100000">
                      <a:srgbClr val="92D050"/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Каждая третья</a:t>
            </a:r>
            <a:endParaRPr lang="en-US" sz="4300" dirty="0">
              <a:gradFill>
                <a:gsLst>
                  <a:gs pos="0">
                    <a:srgbClr val="B9E901"/>
                  </a:gs>
                  <a:gs pos="100000">
                    <a:srgbClr val="92D050"/>
                  </a:gs>
                </a:gsLst>
                <a:path path="circle">
                  <a:fillToRect l="50000" t="50000" r="50000" b="50000"/>
                </a:path>
              </a:gradFill>
              <a:latin typeface="Arial Black" panose="020B0A04020102020204" pitchFamily="34" charset="0"/>
            </a:endParaRPr>
          </a:p>
          <a:p>
            <a:r>
              <a:rPr lang="ru-RU" sz="1900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Успешная атака на российские компании была совершена через подрядчиков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4C9E8D-C1DB-035A-6432-0290E781BB96}"/>
              </a:ext>
            </a:extLst>
          </p:cNvPr>
          <p:cNvSpPr txBox="1"/>
          <p:nvPr/>
        </p:nvSpPr>
        <p:spPr>
          <a:xfrm>
            <a:off x="-1161441" y="1392545"/>
            <a:ext cx="60932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В 2025 году:</a:t>
            </a:r>
            <a:endParaRPr lang="ru-RU" sz="36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0859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2A300-1AA8-983D-2B48-24E9892A4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ECF0E56-D06F-BFA7-C017-38DE1C25D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265572" cy="6977636"/>
          </a:xfrm>
          <a:prstGeom prst="rect">
            <a:avLst/>
          </a:prstGeo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4AE9864A-7913-C1A5-E4E0-69083DE221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32480" y="151467"/>
            <a:ext cx="5527040" cy="707887"/>
          </a:xfrm>
          <a:scene3d>
            <a:camera prst="orthographicFront">
              <a:rot lat="0" lon="0" rev="0"/>
            </a:camera>
            <a:lightRig rig="threePt" dir="t"/>
          </a:scene3d>
          <a:sp3d z="177800"/>
        </p:spPr>
        <p:txBody>
          <a:bodyPr>
            <a:normAutofit/>
          </a:bodyPr>
          <a:lstStyle/>
          <a:p>
            <a:r>
              <a:rPr lang="ru-RU" sz="3600" dirty="0">
                <a:gradFill>
                  <a:gsLst>
                    <a:gs pos="0">
                      <a:srgbClr val="B9E901"/>
                    </a:gs>
                    <a:gs pos="100000">
                      <a:srgbClr val="92D050"/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Продукт проекта</a:t>
            </a:r>
            <a:endParaRPr lang="ru-RU" sz="5400" dirty="0">
              <a:gradFill>
                <a:gsLst>
                  <a:gs pos="0">
                    <a:srgbClr val="B9E901"/>
                  </a:gs>
                  <a:gs pos="100000">
                    <a:srgbClr val="92D050"/>
                  </a:gs>
                </a:gsLst>
                <a:path path="circle">
                  <a:fillToRect l="50000" t="50000" r="50000" b="50000"/>
                </a:path>
              </a:gradFill>
              <a:latin typeface="Arial Black" panose="020B0A040201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AEE813-BD40-D2A1-6123-2AFC6AA83D73}"/>
              </a:ext>
            </a:extLst>
          </p:cNvPr>
          <p:cNvSpPr txBox="1"/>
          <p:nvPr/>
        </p:nvSpPr>
        <p:spPr>
          <a:xfrm>
            <a:off x="1604380" y="1070098"/>
            <a:ext cx="8983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Прототип бюджетной системы контроля межсетевого взаимодействия на базе 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Open Source </a:t>
            </a:r>
            <a:r>
              <a:rPr lang="ru-RU" sz="2000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технологий</a:t>
            </a:r>
          </a:p>
        </p:txBody>
      </p:sp>
      <p:sp useBgFill="1"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C0AAE026-4A1D-2876-3566-EFE8EBFAE73F}"/>
              </a:ext>
            </a:extLst>
          </p:cNvPr>
          <p:cNvSpPr/>
          <p:nvPr/>
        </p:nvSpPr>
        <p:spPr>
          <a:xfrm>
            <a:off x="337938" y="2136205"/>
            <a:ext cx="3444737" cy="1973118"/>
          </a:xfrm>
          <a:prstGeom prst="roundRect">
            <a:avLst/>
          </a:prstGeom>
          <a:ln w="38100">
            <a:gradFill flip="none" rotWithShape="1">
              <a:gsLst>
                <a:gs pos="0">
                  <a:srgbClr val="212121"/>
                </a:gs>
                <a:gs pos="100000">
                  <a:srgbClr val="202020"/>
                </a:gs>
              </a:gsLst>
              <a:lin ang="16200000" scaled="1"/>
              <a:tileRect/>
            </a:gradFill>
          </a:ln>
          <a:scene3d>
            <a:camera prst="orthographicFront"/>
            <a:lightRig rig="threePt" dir="t"/>
          </a:scene3d>
          <a:sp3d>
            <a:bevelT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tabLst>
                <a:tab pos="2955925" algn="l"/>
              </a:tabLst>
            </a:pPr>
            <a:r>
              <a:rPr lang="ru-RU" sz="1950" dirty="0">
                <a:gradFill>
                  <a:gsLst>
                    <a:gs pos="0">
                      <a:srgbClr val="B9E901"/>
                    </a:gs>
                    <a:gs pos="100000">
                      <a:srgbClr val="92D050"/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Рабочий виртуальный стенд</a:t>
            </a:r>
            <a:endParaRPr lang="en-US" sz="1950" dirty="0">
              <a:gradFill>
                <a:gsLst>
                  <a:gs pos="0">
                    <a:srgbClr val="B9E901"/>
                  </a:gs>
                  <a:gs pos="100000">
                    <a:srgbClr val="92D050"/>
                  </a:gs>
                </a:gsLst>
                <a:path path="circle">
                  <a:fillToRect l="50000" t="50000" r="50000" b="50000"/>
                </a:path>
              </a:gradFill>
              <a:latin typeface="Arial Black" panose="020B0A04020102020204" pitchFamily="34" charset="0"/>
            </a:endParaRPr>
          </a:p>
          <a:p>
            <a:pPr algn="ctr"/>
            <a:r>
              <a:rPr lang="ru-RU" sz="1600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Эмулирующий сети заказчика и подрядчика с реалистичной топологией</a:t>
            </a:r>
          </a:p>
        </p:txBody>
      </p:sp>
      <p:sp useBgFill="1"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FDF8FF3-B221-1C97-135A-31D20617BCBE}"/>
              </a:ext>
            </a:extLst>
          </p:cNvPr>
          <p:cNvSpPr/>
          <p:nvPr/>
        </p:nvSpPr>
        <p:spPr>
          <a:xfrm>
            <a:off x="3990027" y="2122348"/>
            <a:ext cx="4211946" cy="1973118"/>
          </a:xfrm>
          <a:prstGeom prst="roundRect">
            <a:avLst/>
          </a:prstGeom>
          <a:ln w="38100">
            <a:gradFill flip="none" rotWithShape="1">
              <a:gsLst>
                <a:gs pos="0">
                  <a:srgbClr val="212121"/>
                </a:gs>
                <a:gs pos="100000">
                  <a:srgbClr val="202020"/>
                </a:gs>
              </a:gsLst>
              <a:lin ang="16200000" scaled="1"/>
              <a:tileRect/>
            </a:gradFill>
          </a:ln>
          <a:scene3d>
            <a:camera prst="orthographicFront"/>
            <a:lightRig rig="threePt" dir="t"/>
          </a:scene3d>
          <a:sp3d>
            <a:bevelT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tabLst>
                <a:tab pos="2955925" algn="l"/>
              </a:tabLst>
            </a:pPr>
            <a:r>
              <a:rPr lang="ru-RU" sz="2000" dirty="0">
                <a:gradFill>
                  <a:gsLst>
                    <a:gs pos="0">
                      <a:srgbClr val="B9E901"/>
                    </a:gs>
                    <a:gs pos="100000">
                      <a:srgbClr val="92D050"/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Система сбора</a:t>
            </a:r>
          </a:p>
          <a:p>
            <a:pPr algn="ctr">
              <a:tabLst>
                <a:tab pos="2955925" algn="l"/>
              </a:tabLst>
            </a:pPr>
            <a:r>
              <a:rPr lang="ru-RU" sz="2000" dirty="0">
                <a:gradFill>
                  <a:gsLst>
                    <a:gs pos="0">
                      <a:srgbClr val="B9E901"/>
                    </a:gs>
                    <a:gs pos="100000">
                      <a:srgbClr val="92D050"/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 и анализа событий ИБ</a:t>
            </a:r>
          </a:p>
          <a:p>
            <a:pPr algn="ctr"/>
            <a:r>
              <a:rPr lang="ru-RU" sz="1600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Настроенная инфраструктура 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SIEM/IDS </a:t>
            </a:r>
            <a:r>
              <a:rPr lang="ru-RU" sz="1600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для мониторинга угроз</a:t>
            </a:r>
          </a:p>
        </p:txBody>
      </p:sp>
      <p:sp useBgFill="1"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08250183-88D6-AC96-30F8-86318AE637CF}"/>
              </a:ext>
            </a:extLst>
          </p:cNvPr>
          <p:cNvSpPr/>
          <p:nvPr/>
        </p:nvSpPr>
        <p:spPr>
          <a:xfrm>
            <a:off x="8409325" y="2122348"/>
            <a:ext cx="3536013" cy="1973118"/>
          </a:xfrm>
          <a:prstGeom prst="roundRect">
            <a:avLst/>
          </a:prstGeom>
          <a:ln w="38100">
            <a:gradFill flip="none" rotWithShape="1">
              <a:gsLst>
                <a:gs pos="0">
                  <a:srgbClr val="212121"/>
                </a:gs>
                <a:gs pos="100000">
                  <a:srgbClr val="202020"/>
                </a:gs>
              </a:gsLst>
              <a:lin ang="16200000" scaled="1"/>
              <a:tileRect/>
            </a:gradFill>
          </a:ln>
          <a:scene3d>
            <a:camera prst="orthographicFront"/>
            <a:lightRig rig="threePt" dir="t"/>
          </a:scene3d>
          <a:sp3d>
            <a:bevelT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tabLst>
                <a:tab pos="2955925" algn="l"/>
              </a:tabLst>
            </a:pPr>
            <a:r>
              <a:rPr lang="ru-RU" sz="2000" dirty="0">
                <a:gradFill>
                  <a:gsLst>
                    <a:gs pos="0">
                      <a:srgbClr val="B9E901"/>
                    </a:gs>
                    <a:gs pos="100000">
                      <a:srgbClr val="92D050"/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Модуль динамического рейтингования</a:t>
            </a:r>
          </a:p>
          <a:p>
            <a:pPr algn="ctr"/>
            <a:r>
              <a:rPr lang="ru-RU" sz="1600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Автоматическая оценка подрядчиков на основе уровня угроз</a:t>
            </a:r>
          </a:p>
        </p:txBody>
      </p:sp>
      <p:sp useBgFill="1"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1DDE3B18-EDE4-A579-1CAC-CCC5149C962C}"/>
              </a:ext>
            </a:extLst>
          </p:cNvPr>
          <p:cNvSpPr/>
          <p:nvPr/>
        </p:nvSpPr>
        <p:spPr>
          <a:xfrm>
            <a:off x="304799" y="4439830"/>
            <a:ext cx="5622037" cy="1973118"/>
          </a:xfrm>
          <a:prstGeom prst="roundRect">
            <a:avLst/>
          </a:prstGeom>
          <a:ln w="38100">
            <a:gradFill flip="none" rotWithShape="1">
              <a:gsLst>
                <a:gs pos="0">
                  <a:srgbClr val="212121"/>
                </a:gs>
                <a:gs pos="100000">
                  <a:srgbClr val="202020"/>
                </a:gs>
              </a:gsLst>
              <a:lin ang="16200000" scaled="1"/>
              <a:tileRect/>
            </a:gradFill>
          </a:ln>
          <a:scene3d>
            <a:camera prst="orthographicFront"/>
            <a:lightRig rig="threePt" dir="t"/>
          </a:scene3d>
          <a:sp3d>
            <a:bevelT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tabLst>
                <a:tab pos="2955925" algn="l"/>
              </a:tabLst>
            </a:pPr>
            <a:r>
              <a:rPr lang="ru-RU" sz="2000" dirty="0">
                <a:gradFill>
                  <a:gsLst>
                    <a:gs pos="0">
                      <a:srgbClr val="B9E901"/>
                    </a:gs>
                    <a:gs pos="100000">
                      <a:srgbClr val="92D050"/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Система оповещения об инцидентах</a:t>
            </a:r>
          </a:p>
          <a:p>
            <a:pPr algn="ctr"/>
            <a:r>
              <a:rPr lang="ru-RU" sz="1600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Мгновенное информирование о подозрительной активности</a:t>
            </a:r>
          </a:p>
        </p:txBody>
      </p:sp>
      <p:sp useBgFill="1"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85C6CD57-6A95-6EE4-58E5-4DEB3E0DAE6A}"/>
              </a:ext>
            </a:extLst>
          </p:cNvPr>
          <p:cNvSpPr/>
          <p:nvPr/>
        </p:nvSpPr>
        <p:spPr>
          <a:xfrm>
            <a:off x="6265164" y="4439830"/>
            <a:ext cx="5680173" cy="1973118"/>
          </a:xfrm>
          <a:prstGeom prst="roundRect">
            <a:avLst/>
          </a:prstGeom>
          <a:ln w="38100">
            <a:gradFill flip="none" rotWithShape="1">
              <a:gsLst>
                <a:gs pos="0">
                  <a:srgbClr val="212121"/>
                </a:gs>
                <a:gs pos="100000">
                  <a:srgbClr val="202020"/>
                </a:gs>
              </a:gsLst>
              <a:lin ang="16200000" scaled="1"/>
              <a:tileRect/>
            </a:gradFill>
          </a:ln>
          <a:scene3d>
            <a:camera prst="orthographicFront"/>
            <a:lightRig rig="threePt" dir="t"/>
          </a:scene3d>
          <a:sp3d>
            <a:bevelT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tabLst>
                <a:tab pos="2955925" algn="l"/>
              </a:tabLst>
            </a:pPr>
            <a:r>
              <a:rPr lang="ru-RU" sz="2000" dirty="0">
                <a:gradFill>
                  <a:gsLst>
                    <a:gs pos="0">
                      <a:srgbClr val="B9E901"/>
                    </a:gs>
                    <a:gs pos="100000">
                      <a:srgbClr val="92D050"/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Документация и презентация</a:t>
            </a:r>
          </a:p>
          <a:p>
            <a:pPr algn="ctr"/>
            <a:r>
              <a:rPr lang="ru-RU" sz="1600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Пакет итоговой документации для демонстрации решения</a:t>
            </a: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4F75E2B8-8346-FBBB-6D17-BAF3DA662CAC}"/>
              </a:ext>
            </a:extLst>
          </p:cNvPr>
          <p:cNvSpPr/>
          <p:nvPr/>
        </p:nvSpPr>
        <p:spPr>
          <a:xfrm>
            <a:off x="428265" y="2218267"/>
            <a:ext cx="413174" cy="413174"/>
          </a:xfrm>
          <a:prstGeom prst="ellipse">
            <a:avLst/>
          </a:prstGeom>
          <a:noFill/>
          <a:ln>
            <a:solidFill>
              <a:srgbClr val="212121"/>
            </a:solidFill>
          </a:ln>
          <a:scene3d>
            <a:camera prst="orthographicFront"/>
            <a:lightRig rig="threePt" dir="t"/>
          </a:scene3d>
          <a:sp3d>
            <a:bevelT h="25400" prst="hardEdge"/>
            <a:bevelB w="101600" h="14605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 SemiBold SemiConden" panose="020B0502040204020203" pitchFamily="34" charset="0"/>
              </a:rPr>
              <a:t>1</a:t>
            </a:r>
            <a:endParaRPr lang="ru-RU" sz="4000" dirty="0">
              <a:solidFill>
                <a:schemeClr val="bg1">
                  <a:lumMod val="95000"/>
                </a:schemeClr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0C631A92-5336-8069-907C-C4983AA4452E}"/>
              </a:ext>
            </a:extLst>
          </p:cNvPr>
          <p:cNvSpPr/>
          <p:nvPr/>
        </p:nvSpPr>
        <p:spPr>
          <a:xfrm>
            <a:off x="4079973" y="2218267"/>
            <a:ext cx="413174" cy="413174"/>
          </a:xfrm>
          <a:prstGeom prst="ellipse">
            <a:avLst/>
          </a:prstGeom>
          <a:noFill/>
          <a:ln>
            <a:solidFill>
              <a:srgbClr val="212121"/>
            </a:solidFill>
          </a:ln>
          <a:scene3d>
            <a:camera prst="orthographicFront"/>
            <a:lightRig rig="threePt" dir="t"/>
          </a:scene3d>
          <a:sp3d>
            <a:bevelT h="25400" prst="hardEdge"/>
            <a:bevelB w="101600" h="14605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 SemiBold SemiConden" panose="020B0502040204020203" pitchFamily="34" charset="0"/>
              </a:rPr>
              <a:t>2</a:t>
            </a:r>
            <a:endParaRPr lang="ru-RU" sz="4000" dirty="0">
              <a:solidFill>
                <a:schemeClr val="bg1">
                  <a:lumMod val="95000"/>
                </a:schemeClr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218E2AE5-9B4A-7E12-8F26-1CD112C5B084}"/>
              </a:ext>
            </a:extLst>
          </p:cNvPr>
          <p:cNvSpPr/>
          <p:nvPr/>
        </p:nvSpPr>
        <p:spPr>
          <a:xfrm>
            <a:off x="8531013" y="2218267"/>
            <a:ext cx="413174" cy="413174"/>
          </a:xfrm>
          <a:prstGeom prst="ellipse">
            <a:avLst/>
          </a:prstGeom>
          <a:noFill/>
          <a:ln>
            <a:solidFill>
              <a:srgbClr val="212121"/>
            </a:solidFill>
          </a:ln>
          <a:scene3d>
            <a:camera prst="orthographicFront"/>
            <a:lightRig rig="threePt" dir="t"/>
          </a:scene3d>
          <a:sp3d>
            <a:bevelT h="25400" prst="hardEdge"/>
            <a:bevelB w="101600" h="14605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 SemiBold SemiConden" panose="020B0502040204020203" pitchFamily="34" charset="0"/>
              </a:rPr>
              <a:t>3</a:t>
            </a:r>
            <a:endParaRPr lang="ru-RU" sz="4000" dirty="0">
              <a:solidFill>
                <a:schemeClr val="bg1">
                  <a:lumMod val="95000"/>
                </a:schemeClr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8732F9F9-0670-DEFB-B4CB-9B3A5B7FDB55}"/>
              </a:ext>
            </a:extLst>
          </p:cNvPr>
          <p:cNvSpPr/>
          <p:nvPr/>
        </p:nvSpPr>
        <p:spPr>
          <a:xfrm>
            <a:off x="6366933" y="4534747"/>
            <a:ext cx="413174" cy="413174"/>
          </a:xfrm>
          <a:prstGeom prst="ellipse">
            <a:avLst/>
          </a:prstGeom>
          <a:noFill/>
          <a:ln>
            <a:solidFill>
              <a:srgbClr val="212121"/>
            </a:solidFill>
          </a:ln>
          <a:scene3d>
            <a:camera prst="orthographicFront"/>
            <a:lightRig rig="threePt" dir="t"/>
          </a:scene3d>
          <a:sp3d>
            <a:bevelT h="25400" prst="hardEdge"/>
            <a:bevelB w="101600" h="14605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 SemiBold SemiConden" panose="020B0502040204020203" pitchFamily="34" charset="0"/>
              </a:rPr>
              <a:t>5</a:t>
            </a:r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A7392E22-2CA6-8843-0ED6-1408C7DF38AA}"/>
              </a:ext>
            </a:extLst>
          </p:cNvPr>
          <p:cNvSpPr/>
          <p:nvPr/>
        </p:nvSpPr>
        <p:spPr>
          <a:xfrm>
            <a:off x="428265" y="4534747"/>
            <a:ext cx="413174" cy="413174"/>
          </a:xfrm>
          <a:prstGeom prst="ellipse">
            <a:avLst/>
          </a:prstGeom>
          <a:noFill/>
          <a:ln>
            <a:solidFill>
              <a:srgbClr val="212121"/>
            </a:solidFill>
          </a:ln>
          <a:scene3d>
            <a:camera prst="orthographicFront"/>
            <a:lightRig rig="threePt" dir="t"/>
          </a:scene3d>
          <a:sp3d>
            <a:bevelT h="25400" prst="hardEdge"/>
            <a:bevelB w="101600" h="14605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 SemiBold SemiConden" panose="020B0502040204020203" pitchFamily="34" charset="0"/>
              </a:rPr>
              <a:t>4</a:t>
            </a:r>
            <a:endParaRPr lang="ru-RU" sz="4000" dirty="0">
              <a:solidFill>
                <a:schemeClr val="bg1">
                  <a:lumMod val="95000"/>
                </a:schemeClr>
              </a:solidFill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7131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19711-7E6E-810A-C5BE-50D432AB1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4" name="Рисунок 2143">
            <a:extLst>
              <a:ext uri="{FF2B5EF4-FFF2-40B4-BE49-F238E27FC236}">
                <a16:creationId xmlns:a16="http://schemas.microsoft.com/office/drawing/2014/main" id="{419221EA-E6CE-9175-0986-E69625635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265572" cy="6977636"/>
          </a:xfrm>
          <a:prstGeom prst="rect">
            <a:avLst/>
          </a:prstGeom>
        </p:spPr>
      </p:pic>
      <p:cxnSp>
        <p:nvCxnSpPr>
          <p:cNvPr id="2063" name="Прямая со стрелкой 2062">
            <a:extLst>
              <a:ext uri="{FF2B5EF4-FFF2-40B4-BE49-F238E27FC236}">
                <a16:creationId xmlns:a16="http://schemas.microsoft.com/office/drawing/2014/main" id="{2411FCB0-D61F-80E1-8C2E-90378A68DB85}"/>
              </a:ext>
            </a:extLst>
          </p:cNvPr>
          <p:cNvCxnSpPr>
            <a:cxnSpLocks/>
          </p:cNvCxnSpPr>
          <p:nvPr/>
        </p:nvCxnSpPr>
        <p:spPr>
          <a:xfrm>
            <a:off x="2026920" y="1564640"/>
            <a:ext cx="1462609" cy="1163743"/>
          </a:xfrm>
          <a:prstGeom prst="straightConnector1">
            <a:avLst/>
          </a:prstGeom>
          <a:ln w="69850">
            <a:gradFill>
              <a:gsLst>
                <a:gs pos="0">
                  <a:srgbClr val="B9E901"/>
                </a:gs>
                <a:gs pos="100000">
                  <a:srgbClr val="83D34A"/>
                </a:gs>
              </a:gsLst>
              <a:lin ang="5400000" scaled="1"/>
            </a:gradFill>
            <a:tailEnd type="triangle"/>
          </a:ln>
          <a:effectLst>
            <a:glow rad="114300">
              <a:srgbClr val="92D050">
                <a:alpha val="13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1E59C477-81F7-30ED-DCDD-111235A684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9884" y="135862"/>
            <a:ext cx="7762116" cy="655099"/>
          </a:xfrm>
          <a:scene3d>
            <a:camera prst="orthographicFront">
              <a:rot lat="0" lon="0" rev="0"/>
            </a:camera>
            <a:lightRig rig="threePt" dir="t"/>
          </a:scene3d>
          <a:sp3d z="177800"/>
        </p:spPr>
        <p:txBody>
          <a:bodyPr>
            <a:normAutofit fontScale="90000"/>
          </a:bodyPr>
          <a:lstStyle/>
          <a:p>
            <a:pPr algn="r"/>
            <a:r>
              <a:rPr lang="ru-RU" sz="4400" dirty="0">
                <a:gradFill>
                  <a:gsLst>
                    <a:gs pos="0">
                      <a:srgbClr val="B9E901"/>
                    </a:gs>
                    <a:gs pos="100000">
                      <a:srgbClr val="92D050"/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Архитектура</a:t>
            </a:r>
            <a:r>
              <a:rPr lang="ru-RU" sz="4900" dirty="0">
                <a:gradFill>
                  <a:gsLst>
                    <a:gs pos="0">
                      <a:srgbClr val="B9E901"/>
                    </a:gs>
                    <a:gs pos="100000">
                      <a:srgbClr val="92D050"/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 </a:t>
            </a:r>
            <a:r>
              <a:rPr lang="ru-RU" sz="4400" dirty="0">
                <a:gradFill>
                  <a:gsLst>
                    <a:gs pos="0">
                      <a:srgbClr val="B9E901"/>
                    </a:gs>
                    <a:gs pos="100000">
                      <a:srgbClr val="92D050"/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стенда</a:t>
            </a:r>
            <a:endParaRPr lang="ru-RU" sz="8000" dirty="0">
              <a:gradFill>
                <a:gsLst>
                  <a:gs pos="0">
                    <a:srgbClr val="B9E901"/>
                  </a:gs>
                  <a:gs pos="100000">
                    <a:srgbClr val="92D050"/>
                  </a:gs>
                </a:gsLst>
                <a:path path="circle">
                  <a:fillToRect l="50000" t="50000" r="50000" b="50000"/>
                </a:path>
              </a:gradFill>
              <a:latin typeface="Arial Black" panose="020B0A04020102020204" pitchFamily="34" charset="0"/>
            </a:endParaRPr>
          </a:p>
        </p:txBody>
      </p:sp>
      <p:grpSp>
        <p:nvGrpSpPr>
          <p:cNvPr id="2055" name="Группа 2054">
            <a:extLst>
              <a:ext uri="{FF2B5EF4-FFF2-40B4-BE49-F238E27FC236}">
                <a16:creationId xmlns:a16="http://schemas.microsoft.com/office/drawing/2014/main" id="{454F7977-0CE6-3F65-18C0-62AFADA01A9F}"/>
              </a:ext>
            </a:extLst>
          </p:cNvPr>
          <p:cNvGrpSpPr/>
          <p:nvPr/>
        </p:nvGrpSpPr>
        <p:grpSpPr>
          <a:xfrm>
            <a:off x="159946" y="745563"/>
            <a:ext cx="2031462" cy="2365826"/>
            <a:chOff x="306295" y="1752880"/>
            <a:chExt cx="2097027" cy="2442183"/>
          </a:xfrm>
        </p:grpSpPr>
        <p:grpSp>
          <p:nvGrpSpPr>
            <p:cNvPr id="28" name="Группа 27">
              <a:extLst>
                <a:ext uri="{FF2B5EF4-FFF2-40B4-BE49-F238E27FC236}">
                  <a16:creationId xmlns:a16="http://schemas.microsoft.com/office/drawing/2014/main" id="{AE95B946-67BB-550C-998E-90871A5804D1}"/>
                </a:ext>
              </a:extLst>
            </p:cNvPr>
            <p:cNvGrpSpPr/>
            <p:nvPr/>
          </p:nvGrpSpPr>
          <p:grpSpPr>
            <a:xfrm>
              <a:off x="556243" y="1752880"/>
              <a:ext cx="1594152" cy="1535266"/>
              <a:chOff x="556243" y="1752880"/>
              <a:chExt cx="1594152" cy="1535266"/>
            </a:xfrm>
          </p:grpSpPr>
          <p:sp useBgFill="1">
            <p:nvSpPr>
              <p:cNvPr id="23" name="Прямоугольник: скругленные углы 22">
                <a:extLst>
                  <a:ext uri="{FF2B5EF4-FFF2-40B4-BE49-F238E27FC236}">
                    <a16:creationId xmlns:a16="http://schemas.microsoft.com/office/drawing/2014/main" id="{D5067371-828D-57F9-3EF5-8BBDE052B3B2}"/>
                  </a:ext>
                </a:extLst>
              </p:cNvPr>
              <p:cNvSpPr/>
              <p:nvPr/>
            </p:nvSpPr>
            <p:spPr>
              <a:xfrm>
                <a:off x="556243" y="1752880"/>
                <a:ext cx="1594152" cy="1535266"/>
              </a:xfrm>
              <a:prstGeom prst="roundRect">
                <a:avLst/>
              </a:prstGeom>
              <a:ln w="38100">
                <a:gradFill flip="none" rotWithShape="1">
                  <a:gsLst>
                    <a:gs pos="0">
                      <a:srgbClr val="212121"/>
                    </a:gs>
                    <a:gs pos="100000">
                      <a:srgbClr val="202020"/>
                    </a:gs>
                  </a:gsLst>
                  <a:lin ang="16200000" scaled="1"/>
                  <a:tileRect/>
                </a:gradFill>
              </a:ln>
              <a:scene3d>
                <a:camera prst="orthographicFront"/>
                <a:lightRig rig="threePt" dir="t"/>
              </a:scene3d>
              <a:sp3d>
                <a:bevelT h="1270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tabLst>
                    <a:tab pos="2955925" algn="l"/>
                  </a:tabLst>
                </a:pPr>
                <a:endParaRPr lang="ru-RU" sz="1000" dirty="0">
                  <a:solidFill>
                    <a:schemeClr val="bg1"/>
                  </a:solidFill>
                  <a:latin typeface="Arial Black" panose="020B0A04020102020204" pitchFamily="34" charset="0"/>
                </a:endParaRPr>
              </a:p>
            </p:txBody>
          </p:sp>
          <p:pic>
            <p:nvPicPr>
              <p:cNvPr id="6" name="Рисунок 5" descr="Монитор">
                <a:extLst>
                  <a:ext uri="{FF2B5EF4-FFF2-40B4-BE49-F238E27FC236}">
                    <a16:creationId xmlns:a16="http://schemas.microsoft.com/office/drawing/2014/main" id="{73EA947C-234A-CA1A-9BE5-90C7365DFC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92228" y="2010245"/>
                <a:ext cx="1111460" cy="1111460"/>
              </a:xfrm>
              <a:prstGeom prst="rect">
                <a:avLst/>
              </a:prstGeom>
            </p:spPr>
          </p:pic>
          <p:pic>
            <p:nvPicPr>
              <p:cNvPr id="8" name="Рисунок 7" descr="Закрыть">
                <a:extLst>
                  <a:ext uri="{FF2B5EF4-FFF2-40B4-BE49-F238E27FC236}">
                    <a16:creationId xmlns:a16="http://schemas.microsoft.com/office/drawing/2014/main" id="{E3769CDC-AFBB-D411-DA54-BDAA2AFBDB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430034" y="1907922"/>
                <a:ext cx="633854" cy="633854"/>
              </a:xfrm>
              <a:prstGeom prst="rect">
                <a:avLst/>
              </a:prstGeom>
            </p:spPr>
          </p:pic>
        </p:grpSp>
        <p:sp>
          <p:nvSpPr>
            <p:cNvPr id="2048" name="TextBox 2047">
              <a:extLst>
                <a:ext uri="{FF2B5EF4-FFF2-40B4-BE49-F238E27FC236}">
                  <a16:creationId xmlns:a16="http://schemas.microsoft.com/office/drawing/2014/main" id="{539C318B-9775-35A7-F7C4-1F1344D6D27A}"/>
                </a:ext>
              </a:extLst>
            </p:cNvPr>
            <p:cNvSpPr txBox="1"/>
            <p:nvPr/>
          </p:nvSpPr>
          <p:spPr>
            <a:xfrm>
              <a:off x="306295" y="3337246"/>
              <a:ext cx="2097027" cy="8578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KALI LINUX</a:t>
              </a:r>
            </a:p>
            <a:p>
              <a:pPr algn="ctr"/>
              <a:r>
                <a:rPr lang="en-US" sz="24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(</a:t>
              </a:r>
              <a:r>
                <a:rPr lang="ru-RU" sz="24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Атакующий</a:t>
              </a:r>
              <a:r>
                <a:rPr lang="en-US" sz="24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)</a:t>
              </a:r>
              <a:endParaRPr lang="ru-RU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056" name="Группа 2055">
            <a:extLst>
              <a:ext uri="{FF2B5EF4-FFF2-40B4-BE49-F238E27FC236}">
                <a16:creationId xmlns:a16="http://schemas.microsoft.com/office/drawing/2014/main" id="{7E1BF700-230B-C837-3C9F-D3EDB3A0F2D5}"/>
              </a:ext>
            </a:extLst>
          </p:cNvPr>
          <p:cNvGrpSpPr/>
          <p:nvPr/>
        </p:nvGrpSpPr>
        <p:grpSpPr>
          <a:xfrm>
            <a:off x="3329224" y="1984751"/>
            <a:ext cx="2018188" cy="1977394"/>
            <a:chOff x="3460186" y="2929592"/>
            <a:chExt cx="2083325" cy="2041214"/>
          </a:xfrm>
        </p:grpSpPr>
        <p:grpSp>
          <p:nvGrpSpPr>
            <p:cNvPr id="29" name="Группа 28">
              <a:extLst>
                <a:ext uri="{FF2B5EF4-FFF2-40B4-BE49-F238E27FC236}">
                  <a16:creationId xmlns:a16="http://schemas.microsoft.com/office/drawing/2014/main" id="{627476E4-F109-111F-3D75-A282BA1BC292}"/>
                </a:ext>
              </a:extLst>
            </p:cNvPr>
            <p:cNvGrpSpPr/>
            <p:nvPr/>
          </p:nvGrpSpPr>
          <p:grpSpPr>
            <a:xfrm>
              <a:off x="3704773" y="2929592"/>
              <a:ext cx="1594152" cy="1535266"/>
              <a:chOff x="3704773" y="2929592"/>
              <a:chExt cx="1594152" cy="1535266"/>
            </a:xfrm>
          </p:grpSpPr>
          <p:sp useBgFill="1">
            <p:nvSpPr>
              <p:cNvPr id="25" name="Прямоугольник: скругленные углы 24">
                <a:extLst>
                  <a:ext uri="{FF2B5EF4-FFF2-40B4-BE49-F238E27FC236}">
                    <a16:creationId xmlns:a16="http://schemas.microsoft.com/office/drawing/2014/main" id="{BE056E21-1D5A-FBF2-9369-F6B094D0B987}"/>
                  </a:ext>
                </a:extLst>
              </p:cNvPr>
              <p:cNvSpPr/>
              <p:nvPr/>
            </p:nvSpPr>
            <p:spPr>
              <a:xfrm>
                <a:off x="3704773" y="2929592"/>
                <a:ext cx="1594152" cy="1535266"/>
              </a:xfrm>
              <a:prstGeom prst="roundRect">
                <a:avLst/>
              </a:prstGeom>
              <a:ln w="38100">
                <a:gradFill flip="none" rotWithShape="1">
                  <a:gsLst>
                    <a:gs pos="0">
                      <a:srgbClr val="212121"/>
                    </a:gs>
                    <a:gs pos="100000">
                      <a:srgbClr val="202020"/>
                    </a:gs>
                  </a:gsLst>
                  <a:lin ang="16200000" scaled="1"/>
                  <a:tileRect/>
                </a:gradFill>
              </a:ln>
              <a:scene3d>
                <a:camera prst="orthographicFront"/>
                <a:lightRig rig="threePt" dir="t"/>
              </a:scene3d>
              <a:sp3d>
                <a:bevelT h="1270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tabLst>
                    <a:tab pos="2955925" algn="l"/>
                  </a:tabLst>
                </a:pPr>
                <a:endParaRPr lang="ru-RU" sz="1000" dirty="0">
                  <a:solidFill>
                    <a:schemeClr val="bg1"/>
                  </a:solidFill>
                  <a:latin typeface="Arial Black" panose="020B0A04020102020204" pitchFamily="34" charset="0"/>
                </a:endParaRPr>
              </a:p>
            </p:txBody>
          </p:sp>
          <p:pic>
            <p:nvPicPr>
              <p:cNvPr id="12" name="Рисунок 11" descr="Чемодан">
                <a:extLst>
                  <a:ext uri="{FF2B5EF4-FFF2-40B4-BE49-F238E27FC236}">
                    <a16:creationId xmlns:a16="http://schemas.microsoft.com/office/drawing/2014/main" id="{EA744D6E-C995-084D-BBC6-E8D155F9E3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860660" y="3121705"/>
                <a:ext cx="1296304" cy="1296304"/>
              </a:xfrm>
              <a:prstGeom prst="rect">
                <a:avLst/>
              </a:prstGeom>
            </p:spPr>
          </p:pic>
          <p:pic>
            <p:nvPicPr>
              <p:cNvPr id="15" name="Рисунок 14" descr="Лупа">
                <a:extLst>
                  <a:ext uri="{FF2B5EF4-FFF2-40B4-BE49-F238E27FC236}">
                    <a16:creationId xmlns:a16="http://schemas.microsoft.com/office/drawing/2014/main" id="{09FA531B-0F7B-95D8-9294-471642D29C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188772" y="3528163"/>
                <a:ext cx="640080" cy="640080"/>
              </a:xfrm>
              <a:prstGeom prst="rect">
                <a:avLst/>
              </a:prstGeom>
            </p:spPr>
          </p:pic>
        </p:grpSp>
        <p:sp>
          <p:nvSpPr>
            <p:cNvPr id="2049" name="TextBox 2048">
              <a:extLst>
                <a:ext uri="{FF2B5EF4-FFF2-40B4-BE49-F238E27FC236}">
                  <a16:creationId xmlns:a16="http://schemas.microsoft.com/office/drawing/2014/main" id="{77D04659-0362-2C6F-4EB1-EC6B6C3563EC}"/>
                </a:ext>
              </a:extLst>
            </p:cNvPr>
            <p:cNvSpPr txBox="1"/>
            <p:nvPr/>
          </p:nvSpPr>
          <p:spPr>
            <a:xfrm>
              <a:off x="3460186" y="4509141"/>
              <a:ext cx="208332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Подрядчик</a:t>
              </a:r>
            </a:p>
          </p:txBody>
        </p:sp>
      </p:grpSp>
      <p:grpSp>
        <p:nvGrpSpPr>
          <p:cNvPr id="2060" name="Группа 2059">
            <a:extLst>
              <a:ext uri="{FF2B5EF4-FFF2-40B4-BE49-F238E27FC236}">
                <a16:creationId xmlns:a16="http://schemas.microsoft.com/office/drawing/2014/main" id="{24A01245-DA72-3848-7E34-C198E218368A}"/>
              </a:ext>
            </a:extLst>
          </p:cNvPr>
          <p:cNvGrpSpPr/>
          <p:nvPr/>
        </p:nvGrpSpPr>
        <p:grpSpPr>
          <a:xfrm>
            <a:off x="6266951" y="4711203"/>
            <a:ext cx="2374864" cy="1996088"/>
            <a:chOff x="6005810" y="4445559"/>
            <a:chExt cx="2451513" cy="2060512"/>
          </a:xfrm>
        </p:grpSpPr>
        <p:grpSp>
          <p:nvGrpSpPr>
            <p:cNvPr id="2059" name="Группа 2058">
              <a:extLst>
                <a:ext uri="{FF2B5EF4-FFF2-40B4-BE49-F238E27FC236}">
                  <a16:creationId xmlns:a16="http://schemas.microsoft.com/office/drawing/2014/main" id="{82195F46-F341-7506-8D98-6CB1052D153C}"/>
                </a:ext>
              </a:extLst>
            </p:cNvPr>
            <p:cNvGrpSpPr/>
            <p:nvPr/>
          </p:nvGrpSpPr>
          <p:grpSpPr>
            <a:xfrm>
              <a:off x="6386173" y="4445559"/>
              <a:ext cx="1703431" cy="1535266"/>
              <a:chOff x="6386173" y="4445559"/>
              <a:chExt cx="1703431" cy="1535266"/>
            </a:xfrm>
          </p:grpSpPr>
          <p:sp useBgFill="1">
            <p:nvSpPr>
              <p:cNvPr id="24" name="Прямоугольник: скругленные углы 23">
                <a:extLst>
                  <a:ext uri="{FF2B5EF4-FFF2-40B4-BE49-F238E27FC236}">
                    <a16:creationId xmlns:a16="http://schemas.microsoft.com/office/drawing/2014/main" id="{0A26A938-BE51-D91F-0B47-1F0F99CE2B7E}"/>
                  </a:ext>
                </a:extLst>
              </p:cNvPr>
              <p:cNvSpPr/>
              <p:nvPr/>
            </p:nvSpPr>
            <p:spPr>
              <a:xfrm>
                <a:off x="6434492" y="4445559"/>
                <a:ext cx="1594152" cy="1535266"/>
              </a:xfrm>
              <a:prstGeom prst="roundRect">
                <a:avLst/>
              </a:prstGeom>
              <a:ln w="38100">
                <a:gradFill flip="none" rotWithShape="1">
                  <a:gsLst>
                    <a:gs pos="0">
                      <a:srgbClr val="212121"/>
                    </a:gs>
                    <a:gs pos="100000">
                      <a:srgbClr val="202020"/>
                    </a:gs>
                  </a:gsLst>
                  <a:lin ang="16200000" scaled="1"/>
                  <a:tileRect/>
                </a:gradFill>
              </a:ln>
              <a:scene3d>
                <a:camera prst="orthographicFront"/>
                <a:lightRig rig="threePt" dir="t"/>
              </a:scene3d>
              <a:sp3d>
                <a:bevelT h="1270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tabLst>
                    <a:tab pos="2955925" algn="l"/>
                  </a:tabLst>
                </a:pPr>
                <a:endParaRPr lang="ru-RU" sz="1000" dirty="0">
                  <a:solidFill>
                    <a:schemeClr val="bg1"/>
                  </a:solidFill>
                  <a:latin typeface="Arial Black" panose="020B0A04020102020204" pitchFamily="34" charset="0"/>
                </a:endParaRPr>
              </a:p>
            </p:txBody>
          </p:sp>
          <p:pic>
            <p:nvPicPr>
              <p:cNvPr id="2050" name="Picture 2">
                <a:extLst>
                  <a:ext uri="{FF2B5EF4-FFF2-40B4-BE49-F238E27FC236}">
                    <a16:creationId xmlns:a16="http://schemas.microsoft.com/office/drawing/2014/main" id="{744C2858-C704-B388-2469-0379EEBB648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86173" y="4970806"/>
                <a:ext cx="1703431" cy="48320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052" name="TextBox 2051">
              <a:extLst>
                <a:ext uri="{FF2B5EF4-FFF2-40B4-BE49-F238E27FC236}">
                  <a16:creationId xmlns:a16="http://schemas.microsoft.com/office/drawing/2014/main" id="{F91176D6-5B3B-1370-9A6F-BA70BECD573A}"/>
                </a:ext>
              </a:extLst>
            </p:cNvPr>
            <p:cNvSpPr txBox="1"/>
            <p:nvPr/>
          </p:nvSpPr>
          <p:spPr>
            <a:xfrm>
              <a:off x="6005810" y="6044406"/>
              <a:ext cx="24515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WAZUH-</a:t>
              </a:r>
              <a:r>
                <a:rPr lang="ru-RU" sz="24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сервер</a:t>
              </a:r>
            </a:p>
          </p:txBody>
        </p:sp>
      </p:grpSp>
      <p:grpSp>
        <p:nvGrpSpPr>
          <p:cNvPr id="2057" name="Группа 2056">
            <a:extLst>
              <a:ext uri="{FF2B5EF4-FFF2-40B4-BE49-F238E27FC236}">
                <a16:creationId xmlns:a16="http://schemas.microsoft.com/office/drawing/2014/main" id="{D78FAA2A-F461-5AF0-0FE4-83BFB6765C92}"/>
              </a:ext>
            </a:extLst>
          </p:cNvPr>
          <p:cNvGrpSpPr/>
          <p:nvPr/>
        </p:nvGrpSpPr>
        <p:grpSpPr>
          <a:xfrm>
            <a:off x="6445289" y="1990759"/>
            <a:ext cx="2018188" cy="2032980"/>
            <a:chOff x="6189903" y="1586439"/>
            <a:chExt cx="2083325" cy="2098595"/>
          </a:xfrm>
        </p:grpSpPr>
        <p:grpSp>
          <p:nvGrpSpPr>
            <p:cNvPr id="30" name="Группа 29">
              <a:extLst>
                <a:ext uri="{FF2B5EF4-FFF2-40B4-BE49-F238E27FC236}">
                  <a16:creationId xmlns:a16="http://schemas.microsoft.com/office/drawing/2014/main" id="{24CED36D-D042-6DE0-555E-EE4CCC1B139E}"/>
                </a:ext>
              </a:extLst>
            </p:cNvPr>
            <p:cNvGrpSpPr/>
            <p:nvPr/>
          </p:nvGrpSpPr>
          <p:grpSpPr>
            <a:xfrm>
              <a:off x="6434492" y="1586439"/>
              <a:ext cx="1594152" cy="1535266"/>
              <a:chOff x="6434492" y="1586439"/>
              <a:chExt cx="1594152" cy="1535266"/>
            </a:xfrm>
          </p:grpSpPr>
          <p:sp useBgFill="1">
            <p:nvSpPr>
              <p:cNvPr id="26" name="Прямоугольник: скругленные углы 25">
                <a:extLst>
                  <a:ext uri="{FF2B5EF4-FFF2-40B4-BE49-F238E27FC236}">
                    <a16:creationId xmlns:a16="http://schemas.microsoft.com/office/drawing/2014/main" id="{14864FC0-1D58-638E-0ED3-E566939FDC94}"/>
                  </a:ext>
                </a:extLst>
              </p:cNvPr>
              <p:cNvSpPr/>
              <p:nvPr/>
            </p:nvSpPr>
            <p:spPr>
              <a:xfrm>
                <a:off x="6434492" y="1586439"/>
                <a:ext cx="1594152" cy="1535266"/>
              </a:xfrm>
              <a:prstGeom prst="roundRect">
                <a:avLst/>
              </a:prstGeom>
              <a:ln w="38100">
                <a:gradFill flip="none" rotWithShape="1">
                  <a:gsLst>
                    <a:gs pos="0">
                      <a:srgbClr val="212121"/>
                    </a:gs>
                    <a:gs pos="100000">
                      <a:srgbClr val="202020"/>
                    </a:gs>
                  </a:gsLst>
                  <a:lin ang="16200000" scaled="1"/>
                  <a:tileRect/>
                </a:gradFill>
              </a:ln>
              <a:scene3d>
                <a:camera prst="orthographicFront"/>
                <a:lightRig rig="threePt" dir="t"/>
              </a:scene3d>
              <a:sp3d>
                <a:bevelT h="1270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tabLst>
                    <a:tab pos="2955925" algn="l"/>
                  </a:tabLst>
                </a:pPr>
                <a:endParaRPr lang="ru-RU" sz="1000" dirty="0">
                  <a:solidFill>
                    <a:schemeClr val="bg1"/>
                  </a:solidFill>
                  <a:latin typeface="Arial Black" panose="020B0A04020102020204" pitchFamily="34" charset="0"/>
                </a:endParaRPr>
              </a:p>
            </p:txBody>
          </p:sp>
          <p:pic>
            <p:nvPicPr>
              <p:cNvPr id="22" name="Рисунок 21" descr="Сервер">
                <a:extLst>
                  <a:ext uri="{FF2B5EF4-FFF2-40B4-BE49-F238E27FC236}">
                    <a16:creationId xmlns:a16="http://schemas.microsoft.com/office/drawing/2014/main" id="{98933938-27BD-BFC4-CBF5-AF50000E5E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6617789" y="1762183"/>
                <a:ext cx="1227557" cy="1227557"/>
              </a:xfrm>
              <a:prstGeom prst="rect">
                <a:avLst/>
              </a:prstGeom>
            </p:spPr>
          </p:pic>
        </p:grpSp>
        <p:sp>
          <p:nvSpPr>
            <p:cNvPr id="2053" name="TextBox 2052">
              <a:extLst>
                <a:ext uri="{FF2B5EF4-FFF2-40B4-BE49-F238E27FC236}">
                  <a16:creationId xmlns:a16="http://schemas.microsoft.com/office/drawing/2014/main" id="{5152BC5F-92B7-8C3B-E116-A85D03638F3A}"/>
                </a:ext>
              </a:extLst>
            </p:cNvPr>
            <p:cNvSpPr txBox="1"/>
            <p:nvPr/>
          </p:nvSpPr>
          <p:spPr>
            <a:xfrm>
              <a:off x="6189903" y="3208469"/>
              <a:ext cx="2083325" cy="476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24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pfSense</a:t>
              </a:r>
              <a:endParaRPr lang="ru-RU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061" name="Группа 2060">
            <a:extLst>
              <a:ext uri="{FF2B5EF4-FFF2-40B4-BE49-F238E27FC236}">
                <a16:creationId xmlns:a16="http://schemas.microsoft.com/office/drawing/2014/main" id="{1FEB2479-846A-3C10-0BCA-B07248321869}"/>
              </a:ext>
            </a:extLst>
          </p:cNvPr>
          <p:cNvGrpSpPr/>
          <p:nvPr/>
        </p:nvGrpSpPr>
        <p:grpSpPr>
          <a:xfrm>
            <a:off x="9771733" y="1984751"/>
            <a:ext cx="2018188" cy="1977394"/>
            <a:chOff x="8773457" y="2929592"/>
            <a:chExt cx="2083325" cy="2041214"/>
          </a:xfrm>
        </p:grpSpPr>
        <p:grpSp>
          <p:nvGrpSpPr>
            <p:cNvPr id="31" name="Группа 30">
              <a:extLst>
                <a:ext uri="{FF2B5EF4-FFF2-40B4-BE49-F238E27FC236}">
                  <a16:creationId xmlns:a16="http://schemas.microsoft.com/office/drawing/2014/main" id="{2C62C8E6-550A-BC17-91D5-BE07D1C483DC}"/>
                </a:ext>
              </a:extLst>
            </p:cNvPr>
            <p:cNvGrpSpPr/>
            <p:nvPr/>
          </p:nvGrpSpPr>
          <p:grpSpPr>
            <a:xfrm>
              <a:off x="9018044" y="2929592"/>
              <a:ext cx="1594152" cy="1535266"/>
              <a:chOff x="9018044" y="2929592"/>
              <a:chExt cx="1594152" cy="1535266"/>
            </a:xfrm>
          </p:grpSpPr>
          <p:sp useBgFill="1">
            <p:nvSpPr>
              <p:cNvPr id="27" name="Прямоугольник: скругленные углы 26">
                <a:extLst>
                  <a:ext uri="{FF2B5EF4-FFF2-40B4-BE49-F238E27FC236}">
                    <a16:creationId xmlns:a16="http://schemas.microsoft.com/office/drawing/2014/main" id="{D303F577-9A41-B31C-3683-591F8DAF5BB9}"/>
                  </a:ext>
                </a:extLst>
              </p:cNvPr>
              <p:cNvSpPr/>
              <p:nvPr/>
            </p:nvSpPr>
            <p:spPr>
              <a:xfrm>
                <a:off x="9018044" y="2929592"/>
                <a:ext cx="1594152" cy="1535266"/>
              </a:xfrm>
              <a:prstGeom prst="roundRect">
                <a:avLst/>
              </a:prstGeom>
              <a:ln w="38100">
                <a:gradFill flip="none" rotWithShape="1">
                  <a:gsLst>
                    <a:gs pos="0">
                      <a:srgbClr val="212121"/>
                    </a:gs>
                    <a:gs pos="100000">
                      <a:srgbClr val="202020"/>
                    </a:gs>
                  </a:gsLst>
                  <a:lin ang="16200000" scaled="1"/>
                  <a:tileRect/>
                </a:gradFill>
              </a:ln>
              <a:scene3d>
                <a:camera prst="orthographicFront"/>
                <a:lightRig rig="threePt" dir="t"/>
              </a:scene3d>
              <a:sp3d>
                <a:bevelT h="1270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tabLst>
                    <a:tab pos="2955925" algn="l"/>
                  </a:tabLst>
                </a:pPr>
                <a:endParaRPr lang="ru-RU" sz="1000" dirty="0">
                  <a:solidFill>
                    <a:schemeClr val="bg1"/>
                  </a:solidFill>
                  <a:latin typeface="Arial Black" panose="020B0A04020102020204" pitchFamily="34" charset="0"/>
                </a:endParaRPr>
              </a:p>
            </p:txBody>
          </p:sp>
          <p:pic>
            <p:nvPicPr>
              <p:cNvPr id="20" name="Рисунок 19" descr="Контрольный список">
                <a:extLst>
                  <a:ext uri="{FF2B5EF4-FFF2-40B4-BE49-F238E27FC236}">
                    <a16:creationId xmlns:a16="http://schemas.microsoft.com/office/drawing/2014/main" id="{1842E0F5-B315-1B57-A5AA-533975A528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9199701" y="3121705"/>
                <a:ext cx="1230838" cy="1230838"/>
              </a:xfrm>
              <a:prstGeom prst="rect">
                <a:avLst/>
              </a:prstGeom>
            </p:spPr>
          </p:pic>
        </p:grpSp>
        <p:sp>
          <p:nvSpPr>
            <p:cNvPr id="2054" name="TextBox 2053">
              <a:extLst>
                <a:ext uri="{FF2B5EF4-FFF2-40B4-BE49-F238E27FC236}">
                  <a16:creationId xmlns:a16="http://schemas.microsoft.com/office/drawing/2014/main" id="{E7A573C0-73A4-9B95-F5B6-585FF5070540}"/>
                </a:ext>
              </a:extLst>
            </p:cNvPr>
            <p:cNvSpPr txBox="1"/>
            <p:nvPr/>
          </p:nvSpPr>
          <p:spPr>
            <a:xfrm>
              <a:off x="8773457" y="4509141"/>
              <a:ext cx="208332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Заказчик</a:t>
              </a:r>
            </a:p>
          </p:txBody>
        </p:sp>
      </p:grpSp>
      <p:grpSp>
        <p:nvGrpSpPr>
          <p:cNvPr id="2108" name="Группа 2107">
            <a:extLst>
              <a:ext uri="{FF2B5EF4-FFF2-40B4-BE49-F238E27FC236}">
                <a16:creationId xmlns:a16="http://schemas.microsoft.com/office/drawing/2014/main" id="{47BC5451-BE4D-B99B-C557-D2CF1F675002}"/>
              </a:ext>
            </a:extLst>
          </p:cNvPr>
          <p:cNvGrpSpPr/>
          <p:nvPr/>
        </p:nvGrpSpPr>
        <p:grpSpPr>
          <a:xfrm>
            <a:off x="4248312" y="4023739"/>
            <a:ext cx="2339178" cy="1484333"/>
            <a:chOff x="3692379" y="5368966"/>
            <a:chExt cx="2060760" cy="635609"/>
          </a:xfrm>
          <a:effectLst>
            <a:glow rad="114300">
              <a:srgbClr val="92D050">
                <a:alpha val="13000"/>
              </a:srgbClr>
            </a:glow>
          </a:effectLst>
        </p:grpSpPr>
        <p:cxnSp>
          <p:nvCxnSpPr>
            <p:cNvPr id="2069" name="Прямая со стрелкой 2068">
              <a:extLst>
                <a:ext uri="{FF2B5EF4-FFF2-40B4-BE49-F238E27FC236}">
                  <a16:creationId xmlns:a16="http://schemas.microsoft.com/office/drawing/2014/main" id="{10B77059-3CE2-68F4-619F-B5BBE85B73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23159" y="5368966"/>
              <a:ext cx="0" cy="635609"/>
            </a:xfrm>
            <a:prstGeom prst="straightConnector1">
              <a:avLst/>
            </a:prstGeom>
            <a:ln w="69850">
              <a:gradFill>
                <a:gsLst>
                  <a:gs pos="0">
                    <a:srgbClr val="B9E901"/>
                  </a:gs>
                  <a:gs pos="100000">
                    <a:srgbClr val="83D34A"/>
                  </a:gs>
                </a:gsLst>
                <a:lin ang="5400000" scaled="1"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0" name="Прямая со стрелкой 2069">
              <a:extLst>
                <a:ext uri="{FF2B5EF4-FFF2-40B4-BE49-F238E27FC236}">
                  <a16:creationId xmlns:a16="http://schemas.microsoft.com/office/drawing/2014/main" id="{4629E475-EC67-983D-4310-2CBE762A7F5D}"/>
                </a:ext>
              </a:extLst>
            </p:cNvPr>
            <p:cNvCxnSpPr>
              <a:cxnSpLocks/>
            </p:cNvCxnSpPr>
            <p:nvPr/>
          </p:nvCxnSpPr>
          <p:spPr>
            <a:xfrm>
              <a:off x="3692379" y="5990193"/>
              <a:ext cx="2060760" cy="0"/>
            </a:xfrm>
            <a:prstGeom prst="straightConnector1">
              <a:avLst/>
            </a:prstGeom>
            <a:ln w="69850">
              <a:gradFill>
                <a:gsLst>
                  <a:gs pos="0">
                    <a:srgbClr val="B9E901"/>
                  </a:gs>
                  <a:gs pos="100000">
                    <a:srgbClr val="83D34A"/>
                  </a:gs>
                </a:gsLst>
                <a:lin ang="5400000" scaled="1"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11" name="Прямая со стрелкой 2110">
            <a:extLst>
              <a:ext uri="{FF2B5EF4-FFF2-40B4-BE49-F238E27FC236}">
                <a16:creationId xmlns:a16="http://schemas.microsoft.com/office/drawing/2014/main" id="{CD59F6CF-7A72-FE89-CE6E-EADEB382448B}"/>
              </a:ext>
            </a:extLst>
          </p:cNvPr>
          <p:cNvCxnSpPr>
            <a:cxnSpLocks/>
          </p:cNvCxnSpPr>
          <p:nvPr/>
        </p:nvCxnSpPr>
        <p:spPr>
          <a:xfrm>
            <a:off x="5189220" y="2734391"/>
            <a:ext cx="1384300" cy="0"/>
          </a:xfrm>
          <a:prstGeom prst="straightConnector1">
            <a:avLst/>
          </a:prstGeom>
          <a:ln w="69850">
            <a:gradFill>
              <a:gsLst>
                <a:gs pos="0">
                  <a:srgbClr val="B9E901"/>
                </a:gs>
                <a:gs pos="100000">
                  <a:srgbClr val="83D34A"/>
                </a:gs>
              </a:gsLst>
              <a:lin ang="5400000" scaled="1"/>
            </a:gradFill>
            <a:tailEnd type="triangle"/>
          </a:ln>
          <a:effectLst>
            <a:glow rad="114300">
              <a:srgbClr val="92D050">
                <a:alpha val="13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29" name="Группа 2128">
            <a:extLst>
              <a:ext uri="{FF2B5EF4-FFF2-40B4-BE49-F238E27FC236}">
                <a16:creationId xmlns:a16="http://schemas.microsoft.com/office/drawing/2014/main" id="{42C59987-BFF8-E4AC-A70B-583821EDAF36}"/>
              </a:ext>
            </a:extLst>
          </p:cNvPr>
          <p:cNvGrpSpPr/>
          <p:nvPr/>
        </p:nvGrpSpPr>
        <p:grpSpPr>
          <a:xfrm>
            <a:off x="8310880" y="2728383"/>
            <a:ext cx="1612900" cy="1"/>
            <a:chOff x="8310880" y="2728383"/>
            <a:chExt cx="1612900" cy="1"/>
          </a:xfrm>
          <a:effectLst>
            <a:glow rad="114300">
              <a:srgbClr val="92D050">
                <a:alpha val="13000"/>
              </a:srgbClr>
            </a:glow>
          </a:effectLst>
        </p:grpSpPr>
        <p:cxnSp>
          <p:nvCxnSpPr>
            <p:cNvPr id="2114" name="Прямая со стрелкой 2113">
              <a:extLst>
                <a:ext uri="{FF2B5EF4-FFF2-40B4-BE49-F238E27FC236}">
                  <a16:creationId xmlns:a16="http://schemas.microsoft.com/office/drawing/2014/main" id="{B850F887-6132-0727-6F78-0A29EB266BBB}"/>
                </a:ext>
              </a:extLst>
            </p:cNvPr>
            <p:cNvCxnSpPr>
              <a:cxnSpLocks/>
            </p:cNvCxnSpPr>
            <p:nvPr/>
          </p:nvCxnSpPr>
          <p:spPr>
            <a:xfrm>
              <a:off x="8623300" y="2728384"/>
              <a:ext cx="1300480" cy="0"/>
            </a:xfrm>
            <a:prstGeom prst="straightConnector1">
              <a:avLst/>
            </a:prstGeom>
            <a:ln w="69850">
              <a:gradFill>
                <a:gsLst>
                  <a:gs pos="0">
                    <a:srgbClr val="B9E901"/>
                  </a:gs>
                  <a:gs pos="100000">
                    <a:srgbClr val="83D34A"/>
                  </a:gs>
                </a:gsLst>
                <a:lin ang="5400000" scaled="1"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5" name="Прямая со стрелкой 2124">
              <a:extLst>
                <a:ext uri="{FF2B5EF4-FFF2-40B4-BE49-F238E27FC236}">
                  <a16:creationId xmlns:a16="http://schemas.microsoft.com/office/drawing/2014/main" id="{36851547-E9EC-487F-9C80-C1E2C05BD4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10880" y="2728383"/>
              <a:ext cx="802868" cy="0"/>
            </a:xfrm>
            <a:prstGeom prst="straightConnector1">
              <a:avLst/>
            </a:prstGeom>
            <a:ln w="69850">
              <a:gradFill>
                <a:gsLst>
                  <a:gs pos="0">
                    <a:srgbClr val="B9E901"/>
                  </a:gs>
                  <a:gs pos="100000">
                    <a:srgbClr val="83D34A"/>
                  </a:gs>
                </a:gsLst>
                <a:lin ang="5400000" scaled="1"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35" name="Прямая со стрелкой 2134">
            <a:extLst>
              <a:ext uri="{FF2B5EF4-FFF2-40B4-BE49-F238E27FC236}">
                <a16:creationId xmlns:a16="http://schemas.microsoft.com/office/drawing/2014/main" id="{98ED8325-8D5A-6DC7-395F-875C42D0DD33}"/>
              </a:ext>
            </a:extLst>
          </p:cNvPr>
          <p:cNvCxnSpPr>
            <a:cxnSpLocks/>
            <a:endCxn id="2053" idx="2"/>
          </p:cNvCxnSpPr>
          <p:nvPr/>
        </p:nvCxnSpPr>
        <p:spPr>
          <a:xfrm flipV="1">
            <a:off x="7454383" y="4023739"/>
            <a:ext cx="0" cy="334436"/>
          </a:xfrm>
          <a:prstGeom prst="straightConnector1">
            <a:avLst/>
          </a:prstGeom>
          <a:ln w="69850">
            <a:gradFill>
              <a:gsLst>
                <a:gs pos="0">
                  <a:srgbClr val="B9E901"/>
                </a:gs>
                <a:gs pos="100000">
                  <a:srgbClr val="83D34A"/>
                </a:gs>
              </a:gsLst>
              <a:lin ang="5400000" scaled="1"/>
            </a:gradFill>
            <a:tailEnd type="triangle"/>
          </a:ln>
          <a:effectLst>
            <a:glow rad="114300">
              <a:srgbClr val="92D050">
                <a:alpha val="13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6" name="Прямая со стрелкой 2135">
            <a:extLst>
              <a:ext uri="{FF2B5EF4-FFF2-40B4-BE49-F238E27FC236}">
                <a16:creationId xmlns:a16="http://schemas.microsoft.com/office/drawing/2014/main" id="{0A75A3E2-BA40-C31B-AD9C-C157AB2486F6}"/>
              </a:ext>
            </a:extLst>
          </p:cNvPr>
          <p:cNvCxnSpPr>
            <a:cxnSpLocks/>
          </p:cNvCxnSpPr>
          <p:nvPr/>
        </p:nvCxnSpPr>
        <p:spPr>
          <a:xfrm>
            <a:off x="7454383" y="4189689"/>
            <a:ext cx="0" cy="458404"/>
          </a:xfrm>
          <a:prstGeom prst="straightConnector1">
            <a:avLst/>
          </a:prstGeom>
          <a:ln w="69850">
            <a:gradFill>
              <a:gsLst>
                <a:gs pos="0">
                  <a:srgbClr val="B9E901"/>
                </a:gs>
                <a:gs pos="100000">
                  <a:srgbClr val="83D34A"/>
                </a:gs>
              </a:gsLst>
              <a:lin ang="5400000" scaled="1"/>
            </a:gradFill>
            <a:tailEnd type="triangle"/>
          </a:ln>
          <a:effectLst>
            <a:glow rad="114300">
              <a:srgbClr val="92D050">
                <a:alpha val="13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5415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62F4D-3219-FE75-E700-EFD175FF8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4" name="Рисунок 2143">
            <a:extLst>
              <a:ext uri="{FF2B5EF4-FFF2-40B4-BE49-F238E27FC236}">
                <a16:creationId xmlns:a16="http://schemas.microsoft.com/office/drawing/2014/main" id="{18B100EA-3217-E406-77DA-6686D2B41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265572" cy="6977636"/>
          </a:xfrm>
          <a:prstGeom prst="rect">
            <a:avLst/>
          </a:prstGeom>
          <a:effectLst>
            <a:glow rad="114300">
              <a:srgbClr val="92D050">
                <a:alpha val="13000"/>
              </a:srgbClr>
            </a:glow>
          </a:effectLst>
        </p:spPr>
      </p:pic>
      <p:sp>
        <p:nvSpPr>
          <p:cNvPr id="2122" name="Овал 2121">
            <a:extLst>
              <a:ext uri="{FF2B5EF4-FFF2-40B4-BE49-F238E27FC236}">
                <a16:creationId xmlns:a16="http://schemas.microsoft.com/office/drawing/2014/main" id="{611BD1FD-19C7-8BDF-2F6E-0EFBA8810083}"/>
              </a:ext>
            </a:extLst>
          </p:cNvPr>
          <p:cNvSpPr/>
          <p:nvPr/>
        </p:nvSpPr>
        <p:spPr>
          <a:xfrm rot="14023062">
            <a:off x="-2999787" y="-2682191"/>
            <a:ext cx="6044021" cy="5478581"/>
          </a:xfrm>
          <a:prstGeom prst="ellipse">
            <a:avLst/>
          </a:prstGeom>
          <a:gradFill flip="none" rotWithShape="1">
            <a:gsLst>
              <a:gs pos="49000">
                <a:srgbClr val="212121">
                  <a:lumMod val="100000"/>
                  <a:alpha val="63000"/>
                </a:srgbClr>
              </a:gs>
              <a:gs pos="0">
                <a:srgbClr val="92D05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2D8F6AB9-C543-ABF6-CD33-6550554191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100351"/>
            <a:ext cx="6163997" cy="655099"/>
          </a:xfrm>
          <a:scene3d>
            <a:camera prst="orthographicFront">
              <a:rot lat="0" lon="0" rev="0"/>
            </a:camera>
            <a:lightRig rig="threePt" dir="t"/>
          </a:scene3d>
          <a:sp3d z="177800"/>
        </p:spPr>
        <p:txBody>
          <a:bodyPr>
            <a:normAutofit fontScale="90000"/>
          </a:bodyPr>
          <a:lstStyle/>
          <a:p>
            <a:pPr algn="r"/>
            <a:r>
              <a:rPr lang="ru-RU" sz="4400" dirty="0">
                <a:gradFill>
                  <a:gsLst>
                    <a:gs pos="0">
                      <a:srgbClr val="B9E901"/>
                    </a:gs>
                    <a:gs pos="100000">
                      <a:srgbClr val="92D050"/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Взаимодействие</a:t>
            </a:r>
            <a:endParaRPr lang="ru-RU" sz="8000" dirty="0">
              <a:gradFill>
                <a:gsLst>
                  <a:gs pos="0">
                    <a:srgbClr val="B9E901"/>
                  </a:gs>
                  <a:gs pos="100000">
                    <a:srgbClr val="92D050"/>
                  </a:gs>
                </a:gsLst>
                <a:path path="circle">
                  <a:fillToRect l="50000" t="50000" r="50000" b="50000"/>
                </a:path>
              </a:gradFill>
              <a:latin typeface="Arial Black" panose="020B0A04020102020204" pitchFamily="34" charset="0"/>
            </a:endParaRPr>
          </a:p>
        </p:txBody>
      </p:sp>
      <p:grpSp>
        <p:nvGrpSpPr>
          <p:cNvPr id="2056" name="Группа 2055">
            <a:extLst>
              <a:ext uri="{FF2B5EF4-FFF2-40B4-BE49-F238E27FC236}">
                <a16:creationId xmlns:a16="http://schemas.microsoft.com/office/drawing/2014/main" id="{5C5BCD13-C05D-C1D2-F131-EC0B9A9263DD}"/>
              </a:ext>
            </a:extLst>
          </p:cNvPr>
          <p:cNvGrpSpPr/>
          <p:nvPr/>
        </p:nvGrpSpPr>
        <p:grpSpPr>
          <a:xfrm>
            <a:off x="529288" y="2629576"/>
            <a:ext cx="2018188" cy="1977394"/>
            <a:chOff x="3460186" y="2929592"/>
            <a:chExt cx="2083325" cy="2041214"/>
          </a:xfrm>
        </p:grpSpPr>
        <p:grpSp>
          <p:nvGrpSpPr>
            <p:cNvPr id="29" name="Группа 28">
              <a:extLst>
                <a:ext uri="{FF2B5EF4-FFF2-40B4-BE49-F238E27FC236}">
                  <a16:creationId xmlns:a16="http://schemas.microsoft.com/office/drawing/2014/main" id="{62DD0EA0-585C-D195-EB3C-7B9047CB6BEB}"/>
                </a:ext>
              </a:extLst>
            </p:cNvPr>
            <p:cNvGrpSpPr/>
            <p:nvPr/>
          </p:nvGrpSpPr>
          <p:grpSpPr>
            <a:xfrm>
              <a:off x="3704773" y="2929592"/>
              <a:ext cx="1594152" cy="1535266"/>
              <a:chOff x="3704773" y="2929592"/>
              <a:chExt cx="1594152" cy="1535266"/>
            </a:xfrm>
          </p:grpSpPr>
          <p:sp useBgFill="1">
            <p:nvSpPr>
              <p:cNvPr id="25" name="Прямоугольник: скругленные углы 24">
                <a:extLst>
                  <a:ext uri="{FF2B5EF4-FFF2-40B4-BE49-F238E27FC236}">
                    <a16:creationId xmlns:a16="http://schemas.microsoft.com/office/drawing/2014/main" id="{9EDFCF5D-E988-8C95-FC73-7A3C5F080060}"/>
                  </a:ext>
                </a:extLst>
              </p:cNvPr>
              <p:cNvSpPr/>
              <p:nvPr/>
            </p:nvSpPr>
            <p:spPr>
              <a:xfrm>
                <a:off x="3704773" y="2929592"/>
                <a:ext cx="1594152" cy="1535266"/>
              </a:xfrm>
              <a:prstGeom prst="roundRect">
                <a:avLst/>
              </a:prstGeom>
              <a:ln w="38100">
                <a:gradFill flip="none" rotWithShape="1">
                  <a:gsLst>
                    <a:gs pos="0">
                      <a:srgbClr val="212121"/>
                    </a:gs>
                    <a:gs pos="100000">
                      <a:srgbClr val="202020"/>
                    </a:gs>
                  </a:gsLst>
                  <a:lin ang="16200000" scaled="1"/>
                  <a:tileRect/>
                </a:gradFill>
              </a:ln>
              <a:scene3d>
                <a:camera prst="orthographicFront"/>
                <a:lightRig rig="threePt" dir="t"/>
              </a:scene3d>
              <a:sp3d>
                <a:bevelT h="1270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tabLst>
                    <a:tab pos="2955925" algn="l"/>
                  </a:tabLst>
                </a:pPr>
                <a:endParaRPr lang="ru-RU" sz="1000" dirty="0">
                  <a:solidFill>
                    <a:schemeClr val="bg1"/>
                  </a:solidFill>
                  <a:latin typeface="Arial Black" panose="020B0A04020102020204" pitchFamily="34" charset="0"/>
                </a:endParaRPr>
              </a:p>
            </p:txBody>
          </p:sp>
          <p:pic>
            <p:nvPicPr>
              <p:cNvPr id="12" name="Рисунок 11" descr="Чемодан">
                <a:extLst>
                  <a:ext uri="{FF2B5EF4-FFF2-40B4-BE49-F238E27FC236}">
                    <a16:creationId xmlns:a16="http://schemas.microsoft.com/office/drawing/2014/main" id="{C365C44F-A942-9714-4DC0-3D483DEA29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860660" y="3121705"/>
                <a:ext cx="1296304" cy="1296304"/>
              </a:xfrm>
              <a:prstGeom prst="rect">
                <a:avLst/>
              </a:prstGeom>
            </p:spPr>
          </p:pic>
          <p:pic>
            <p:nvPicPr>
              <p:cNvPr id="15" name="Рисунок 14" descr="Лупа">
                <a:extLst>
                  <a:ext uri="{FF2B5EF4-FFF2-40B4-BE49-F238E27FC236}">
                    <a16:creationId xmlns:a16="http://schemas.microsoft.com/office/drawing/2014/main" id="{34E4B011-9B87-E019-BB62-BEAB7275A8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188772" y="3528163"/>
                <a:ext cx="640080" cy="640080"/>
              </a:xfrm>
              <a:prstGeom prst="rect">
                <a:avLst/>
              </a:prstGeom>
            </p:spPr>
          </p:pic>
        </p:grpSp>
        <p:sp>
          <p:nvSpPr>
            <p:cNvPr id="2049" name="TextBox 2048">
              <a:extLst>
                <a:ext uri="{FF2B5EF4-FFF2-40B4-BE49-F238E27FC236}">
                  <a16:creationId xmlns:a16="http://schemas.microsoft.com/office/drawing/2014/main" id="{5AD6EEF6-DBCF-66E9-A2BF-C039D8643756}"/>
                </a:ext>
              </a:extLst>
            </p:cNvPr>
            <p:cNvSpPr txBox="1"/>
            <p:nvPr/>
          </p:nvSpPr>
          <p:spPr>
            <a:xfrm>
              <a:off x="3460186" y="4509141"/>
              <a:ext cx="208332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Подрядчик</a:t>
              </a:r>
            </a:p>
          </p:txBody>
        </p:sp>
      </p:grpSp>
      <p:grpSp>
        <p:nvGrpSpPr>
          <p:cNvPr id="2061" name="Группа 2060">
            <a:extLst>
              <a:ext uri="{FF2B5EF4-FFF2-40B4-BE49-F238E27FC236}">
                <a16:creationId xmlns:a16="http://schemas.microsoft.com/office/drawing/2014/main" id="{5B705E3E-F050-2081-F5C5-BCD2085A873C}"/>
              </a:ext>
            </a:extLst>
          </p:cNvPr>
          <p:cNvGrpSpPr/>
          <p:nvPr/>
        </p:nvGrpSpPr>
        <p:grpSpPr>
          <a:xfrm>
            <a:off x="7331353" y="4037070"/>
            <a:ext cx="2018188" cy="1977394"/>
            <a:chOff x="8773457" y="2929592"/>
            <a:chExt cx="2083325" cy="2041214"/>
          </a:xfrm>
        </p:grpSpPr>
        <p:grpSp>
          <p:nvGrpSpPr>
            <p:cNvPr id="31" name="Группа 30">
              <a:extLst>
                <a:ext uri="{FF2B5EF4-FFF2-40B4-BE49-F238E27FC236}">
                  <a16:creationId xmlns:a16="http://schemas.microsoft.com/office/drawing/2014/main" id="{BED2117C-63CA-211D-F041-7DC612E3C121}"/>
                </a:ext>
              </a:extLst>
            </p:cNvPr>
            <p:cNvGrpSpPr/>
            <p:nvPr/>
          </p:nvGrpSpPr>
          <p:grpSpPr>
            <a:xfrm>
              <a:off x="9018044" y="2929592"/>
              <a:ext cx="1594152" cy="1535266"/>
              <a:chOff x="9018044" y="2929592"/>
              <a:chExt cx="1594152" cy="1535266"/>
            </a:xfrm>
          </p:grpSpPr>
          <p:sp useBgFill="1">
            <p:nvSpPr>
              <p:cNvPr id="27" name="Прямоугольник: скругленные углы 26">
                <a:extLst>
                  <a:ext uri="{FF2B5EF4-FFF2-40B4-BE49-F238E27FC236}">
                    <a16:creationId xmlns:a16="http://schemas.microsoft.com/office/drawing/2014/main" id="{29F882F4-E27E-A304-FB5B-5F1B59548271}"/>
                  </a:ext>
                </a:extLst>
              </p:cNvPr>
              <p:cNvSpPr/>
              <p:nvPr/>
            </p:nvSpPr>
            <p:spPr>
              <a:xfrm>
                <a:off x="9018044" y="2929592"/>
                <a:ext cx="1594152" cy="1535266"/>
              </a:xfrm>
              <a:prstGeom prst="roundRect">
                <a:avLst/>
              </a:prstGeom>
              <a:ln w="38100">
                <a:gradFill flip="none" rotWithShape="1">
                  <a:gsLst>
                    <a:gs pos="0">
                      <a:srgbClr val="212121"/>
                    </a:gs>
                    <a:gs pos="100000">
                      <a:srgbClr val="202020"/>
                    </a:gs>
                  </a:gsLst>
                  <a:lin ang="16200000" scaled="1"/>
                  <a:tileRect/>
                </a:gradFill>
              </a:ln>
              <a:scene3d>
                <a:camera prst="orthographicFront"/>
                <a:lightRig rig="threePt" dir="t"/>
              </a:scene3d>
              <a:sp3d>
                <a:bevelT h="1270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tabLst>
                    <a:tab pos="2955925" algn="l"/>
                  </a:tabLst>
                </a:pPr>
                <a:endParaRPr lang="ru-RU" sz="1000" dirty="0">
                  <a:solidFill>
                    <a:schemeClr val="bg1"/>
                  </a:solidFill>
                  <a:latin typeface="Arial Black" panose="020B0A04020102020204" pitchFamily="34" charset="0"/>
                </a:endParaRPr>
              </a:p>
            </p:txBody>
          </p:sp>
          <p:pic>
            <p:nvPicPr>
              <p:cNvPr id="20" name="Рисунок 19" descr="Контрольный список">
                <a:extLst>
                  <a:ext uri="{FF2B5EF4-FFF2-40B4-BE49-F238E27FC236}">
                    <a16:creationId xmlns:a16="http://schemas.microsoft.com/office/drawing/2014/main" id="{6E6CDE18-F264-5A04-7126-53DD12619D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199701" y="3121705"/>
                <a:ext cx="1230838" cy="1230838"/>
              </a:xfrm>
              <a:prstGeom prst="rect">
                <a:avLst/>
              </a:prstGeom>
            </p:spPr>
          </p:pic>
        </p:grpSp>
        <p:sp>
          <p:nvSpPr>
            <p:cNvPr id="2054" name="TextBox 2053">
              <a:extLst>
                <a:ext uri="{FF2B5EF4-FFF2-40B4-BE49-F238E27FC236}">
                  <a16:creationId xmlns:a16="http://schemas.microsoft.com/office/drawing/2014/main" id="{51E8F5AE-9658-9CE6-7142-2CA2EA4C9010}"/>
                </a:ext>
              </a:extLst>
            </p:cNvPr>
            <p:cNvSpPr txBox="1"/>
            <p:nvPr/>
          </p:nvSpPr>
          <p:spPr>
            <a:xfrm>
              <a:off x="8773457" y="4509141"/>
              <a:ext cx="208332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Заказчик</a:t>
              </a:r>
            </a:p>
          </p:txBody>
        </p:sp>
      </p:grpSp>
      <p:cxnSp>
        <p:nvCxnSpPr>
          <p:cNvPr id="2111" name="Прямая со стрелкой 2110">
            <a:extLst>
              <a:ext uri="{FF2B5EF4-FFF2-40B4-BE49-F238E27FC236}">
                <a16:creationId xmlns:a16="http://schemas.microsoft.com/office/drawing/2014/main" id="{E58F0AB8-4340-71AE-0D31-19BFCF47926C}"/>
              </a:ext>
            </a:extLst>
          </p:cNvPr>
          <p:cNvCxnSpPr>
            <a:cxnSpLocks/>
          </p:cNvCxnSpPr>
          <p:nvPr/>
        </p:nvCxnSpPr>
        <p:spPr>
          <a:xfrm>
            <a:off x="2381616" y="3443569"/>
            <a:ext cx="1514744" cy="0"/>
          </a:xfrm>
          <a:prstGeom prst="straightConnector1">
            <a:avLst/>
          </a:prstGeom>
          <a:ln w="69850">
            <a:gradFill>
              <a:gsLst>
                <a:gs pos="0">
                  <a:srgbClr val="B9E901"/>
                </a:gs>
                <a:gs pos="100000">
                  <a:srgbClr val="83D34A"/>
                </a:gs>
              </a:gsLst>
              <a:lin ang="5400000" scaled="1"/>
            </a:gradFill>
            <a:tailEnd type="triangle"/>
          </a:ln>
          <a:effectLst>
            <a:glow rad="114300">
              <a:srgbClr val="92D050">
                <a:alpha val="13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E2A532F2-AC17-D765-D60F-D3D7712E95CB}"/>
              </a:ext>
            </a:extLst>
          </p:cNvPr>
          <p:cNvGrpSpPr/>
          <p:nvPr/>
        </p:nvGrpSpPr>
        <p:grpSpPr>
          <a:xfrm>
            <a:off x="3750277" y="4693651"/>
            <a:ext cx="2018188" cy="1991828"/>
            <a:chOff x="5372552" y="1541049"/>
            <a:chExt cx="2018188" cy="1991828"/>
          </a:xfrm>
        </p:grpSpPr>
        <p:grpSp>
          <p:nvGrpSpPr>
            <p:cNvPr id="2" name="Группа 1">
              <a:extLst>
                <a:ext uri="{FF2B5EF4-FFF2-40B4-BE49-F238E27FC236}">
                  <a16:creationId xmlns:a16="http://schemas.microsoft.com/office/drawing/2014/main" id="{A1734ABC-067B-F0EB-4361-D4AD00AB3077}"/>
                </a:ext>
              </a:extLst>
            </p:cNvPr>
            <p:cNvGrpSpPr/>
            <p:nvPr/>
          </p:nvGrpSpPr>
          <p:grpSpPr>
            <a:xfrm>
              <a:off x="5372552" y="1541049"/>
              <a:ext cx="2018188" cy="1991828"/>
              <a:chOff x="3460186" y="2929592"/>
              <a:chExt cx="2083325" cy="2056114"/>
            </a:xfrm>
          </p:grpSpPr>
          <p:sp useBgFill="1">
            <p:nvSpPr>
              <p:cNvPr id="5" name="Прямоугольник: скругленные углы 4">
                <a:extLst>
                  <a:ext uri="{FF2B5EF4-FFF2-40B4-BE49-F238E27FC236}">
                    <a16:creationId xmlns:a16="http://schemas.microsoft.com/office/drawing/2014/main" id="{F4C42745-A5E6-C2C2-E01E-36A4D8B106CE}"/>
                  </a:ext>
                </a:extLst>
              </p:cNvPr>
              <p:cNvSpPr/>
              <p:nvPr/>
            </p:nvSpPr>
            <p:spPr>
              <a:xfrm>
                <a:off x="3704773" y="2929592"/>
                <a:ext cx="1594152" cy="1535266"/>
              </a:xfrm>
              <a:prstGeom prst="roundRect">
                <a:avLst/>
              </a:prstGeom>
              <a:ln w="38100">
                <a:gradFill flip="none" rotWithShape="1">
                  <a:gsLst>
                    <a:gs pos="0">
                      <a:srgbClr val="212121"/>
                    </a:gs>
                    <a:gs pos="100000">
                      <a:srgbClr val="202020"/>
                    </a:gs>
                  </a:gsLst>
                  <a:lin ang="16200000" scaled="1"/>
                  <a:tileRect/>
                </a:gradFill>
              </a:ln>
              <a:scene3d>
                <a:camera prst="orthographicFront"/>
                <a:lightRig rig="threePt" dir="t"/>
              </a:scene3d>
              <a:sp3d>
                <a:bevelT h="1270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tabLst>
                    <a:tab pos="2955925" algn="l"/>
                  </a:tabLst>
                </a:pPr>
                <a:endParaRPr lang="ru-RU" sz="1000" dirty="0">
                  <a:solidFill>
                    <a:schemeClr val="bg1"/>
                  </a:solidFill>
                  <a:latin typeface="Arial Black" panose="020B0A04020102020204" pitchFamily="34" charset="0"/>
                </a:endParaRP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AF2B310-867E-09B6-982C-916484BA527E}"/>
                  </a:ext>
                </a:extLst>
              </p:cNvPr>
              <p:cNvSpPr txBox="1"/>
              <p:nvPr/>
            </p:nvSpPr>
            <p:spPr>
              <a:xfrm>
                <a:off x="3460186" y="4509141"/>
                <a:ext cx="2083325" cy="476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2400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Веб-сервер</a:t>
                </a:r>
              </a:p>
            </p:txBody>
          </p:sp>
        </p:grpSp>
        <p:pic>
          <p:nvPicPr>
            <p:cNvPr id="13" name="Рисунок 12" descr="Земля">
              <a:extLst>
                <a:ext uri="{FF2B5EF4-FFF2-40B4-BE49-F238E27FC236}">
                  <a16:creationId xmlns:a16="http://schemas.microsoft.com/office/drawing/2014/main" id="{F3911708-DA00-8AD3-3B91-FC4CE0C830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773821" y="1705886"/>
              <a:ext cx="1215650" cy="1215650"/>
            </a:xfrm>
            <a:prstGeom prst="rect">
              <a:avLst/>
            </a:prstGeom>
          </p:spPr>
        </p:pic>
      </p:grpSp>
      <p:grpSp>
        <p:nvGrpSpPr>
          <p:cNvPr id="2078" name="Группа 2077">
            <a:extLst>
              <a:ext uri="{FF2B5EF4-FFF2-40B4-BE49-F238E27FC236}">
                <a16:creationId xmlns:a16="http://schemas.microsoft.com/office/drawing/2014/main" id="{AE77BE50-F3C5-AC51-0B17-8F898C5744B2}"/>
              </a:ext>
            </a:extLst>
          </p:cNvPr>
          <p:cNvGrpSpPr/>
          <p:nvPr/>
        </p:nvGrpSpPr>
        <p:grpSpPr>
          <a:xfrm>
            <a:off x="3750278" y="340273"/>
            <a:ext cx="2018187" cy="1990657"/>
            <a:chOff x="3495725" y="2530263"/>
            <a:chExt cx="2018187" cy="1990657"/>
          </a:xfrm>
        </p:grpSpPr>
        <p:sp>
          <p:nvSpPr>
            <p:cNvPr id="2058" name="TextBox 2057">
              <a:extLst>
                <a:ext uri="{FF2B5EF4-FFF2-40B4-BE49-F238E27FC236}">
                  <a16:creationId xmlns:a16="http://schemas.microsoft.com/office/drawing/2014/main" id="{03D3BB54-1656-A310-503C-C421C89EA9A7}"/>
                </a:ext>
              </a:extLst>
            </p:cNvPr>
            <p:cNvSpPr txBox="1"/>
            <p:nvPr/>
          </p:nvSpPr>
          <p:spPr>
            <a:xfrm>
              <a:off x="3495725" y="4059255"/>
              <a:ext cx="20181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API</a:t>
              </a:r>
              <a:r>
                <a:rPr lang="ru-RU" sz="24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-запросы</a:t>
              </a:r>
            </a:p>
          </p:txBody>
        </p:sp>
        <p:grpSp>
          <p:nvGrpSpPr>
            <p:cNvPr id="2075" name="Группа 2074">
              <a:extLst>
                <a:ext uri="{FF2B5EF4-FFF2-40B4-BE49-F238E27FC236}">
                  <a16:creationId xmlns:a16="http://schemas.microsoft.com/office/drawing/2014/main" id="{C810E14C-294C-B963-3CE8-FCE58DA58ED1}"/>
                </a:ext>
              </a:extLst>
            </p:cNvPr>
            <p:cNvGrpSpPr/>
            <p:nvPr/>
          </p:nvGrpSpPr>
          <p:grpSpPr>
            <a:xfrm>
              <a:off x="3732665" y="2530263"/>
              <a:ext cx="1544309" cy="1487265"/>
              <a:chOff x="4004794" y="3879108"/>
              <a:chExt cx="1544309" cy="1487265"/>
            </a:xfrm>
          </p:grpSpPr>
          <p:sp useBgFill="1">
            <p:nvSpPr>
              <p:cNvPr id="2073" name="Прямоугольник: скругленные углы 2072">
                <a:extLst>
                  <a:ext uri="{FF2B5EF4-FFF2-40B4-BE49-F238E27FC236}">
                    <a16:creationId xmlns:a16="http://schemas.microsoft.com/office/drawing/2014/main" id="{EDF06D53-4337-5725-1EE4-1846A90E05B5}"/>
                  </a:ext>
                </a:extLst>
              </p:cNvPr>
              <p:cNvSpPr/>
              <p:nvPr/>
            </p:nvSpPr>
            <p:spPr>
              <a:xfrm>
                <a:off x="4004794" y="3879108"/>
                <a:ext cx="1544309" cy="1487265"/>
              </a:xfrm>
              <a:prstGeom prst="roundRect">
                <a:avLst/>
              </a:prstGeom>
              <a:ln w="38100">
                <a:gradFill flip="none" rotWithShape="1">
                  <a:gsLst>
                    <a:gs pos="0">
                      <a:srgbClr val="212121"/>
                    </a:gs>
                    <a:gs pos="100000">
                      <a:srgbClr val="202020"/>
                    </a:gs>
                  </a:gsLst>
                  <a:lin ang="16200000" scaled="1"/>
                  <a:tileRect/>
                </a:gradFill>
              </a:ln>
              <a:scene3d>
                <a:camera prst="orthographicFront"/>
                <a:lightRig rig="threePt" dir="t"/>
              </a:scene3d>
              <a:sp3d>
                <a:bevelT h="1270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tabLst>
                    <a:tab pos="2955925" algn="l"/>
                  </a:tabLst>
                </a:pPr>
                <a:endParaRPr lang="ru-RU" sz="1000" dirty="0">
                  <a:solidFill>
                    <a:schemeClr val="bg1"/>
                  </a:solidFill>
                  <a:latin typeface="Arial Black" panose="020B0A04020102020204" pitchFamily="34" charset="0"/>
                </a:endParaRPr>
              </a:p>
            </p:txBody>
          </p:sp>
          <p:pic>
            <p:nvPicPr>
              <p:cNvPr id="2066" name="Рисунок 2065">
                <a:extLst>
                  <a:ext uri="{FF2B5EF4-FFF2-40B4-BE49-F238E27FC236}">
                    <a16:creationId xmlns:a16="http://schemas.microsoft.com/office/drawing/2014/main" id="{BE1BB0CC-0537-F4D3-41DE-1A3FB8FCFD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204730" y="4050522"/>
                <a:ext cx="1144436" cy="1144436"/>
              </a:xfrm>
              <a:prstGeom prst="rect">
                <a:avLst/>
              </a:prstGeom>
            </p:spPr>
          </p:pic>
        </p:grpSp>
      </p:grpSp>
      <p:grpSp>
        <p:nvGrpSpPr>
          <p:cNvPr id="2080" name="Группа 2079">
            <a:extLst>
              <a:ext uri="{FF2B5EF4-FFF2-40B4-BE49-F238E27FC236}">
                <a16:creationId xmlns:a16="http://schemas.microsoft.com/office/drawing/2014/main" id="{05937CAC-2D69-1C70-6B3A-07DD6099C575}"/>
              </a:ext>
            </a:extLst>
          </p:cNvPr>
          <p:cNvGrpSpPr/>
          <p:nvPr/>
        </p:nvGrpSpPr>
        <p:grpSpPr>
          <a:xfrm>
            <a:off x="3765916" y="2563507"/>
            <a:ext cx="2018187" cy="1984611"/>
            <a:chOff x="5742452" y="2530262"/>
            <a:chExt cx="2018187" cy="1984611"/>
          </a:xfrm>
        </p:grpSpPr>
        <p:sp useBgFill="1">
          <p:nvSpPr>
            <p:cNvPr id="2051" name="Прямоугольник: скругленные углы 2050">
              <a:extLst>
                <a:ext uri="{FF2B5EF4-FFF2-40B4-BE49-F238E27FC236}">
                  <a16:creationId xmlns:a16="http://schemas.microsoft.com/office/drawing/2014/main" id="{E534C00C-4504-0683-8215-533EA9D875C1}"/>
                </a:ext>
              </a:extLst>
            </p:cNvPr>
            <p:cNvSpPr/>
            <p:nvPr/>
          </p:nvSpPr>
          <p:spPr>
            <a:xfrm>
              <a:off x="5974451" y="2530262"/>
              <a:ext cx="1544309" cy="1487265"/>
            </a:xfrm>
            <a:prstGeom prst="roundRect">
              <a:avLst/>
            </a:prstGeom>
            <a:ln w="38100">
              <a:gradFill flip="none" rotWithShape="1">
                <a:gsLst>
                  <a:gs pos="0">
                    <a:srgbClr val="212121"/>
                  </a:gs>
                  <a:gs pos="100000">
                    <a:srgbClr val="202020"/>
                  </a:gs>
                </a:gsLst>
                <a:lin ang="16200000" scaled="1"/>
                <a:tileRect/>
              </a:gradFill>
            </a:ln>
            <a:scene3d>
              <a:camera prst="orthographicFront"/>
              <a:lightRig rig="threePt" dir="t"/>
            </a:scene3d>
            <a:sp3d>
              <a:bevelT h="1270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tabLst>
                  <a:tab pos="2955925" algn="l"/>
                </a:tabLst>
              </a:pPr>
              <a:endParaRPr lang="ru-RU" sz="1000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grpSp>
          <p:nvGrpSpPr>
            <p:cNvPr id="2079" name="Группа 2078">
              <a:extLst>
                <a:ext uri="{FF2B5EF4-FFF2-40B4-BE49-F238E27FC236}">
                  <a16:creationId xmlns:a16="http://schemas.microsoft.com/office/drawing/2014/main" id="{9B0B190C-1725-F7A7-8E0B-F24977851C51}"/>
                </a:ext>
              </a:extLst>
            </p:cNvPr>
            <p:cNvGrpSpPr/>
            <p:nvPr/>
          </p:nvGrpSpPr>
          <p:grpSpPr>
            <a:xfrm>
              <a:off x="5742452" y="2703504"/>
              <a:ext cx="2018187" cy="1811369"/>
              <a:chOff x="5742452" y="2703504"/>
              <a:chExt cx="2018187" cy="1811369"/>
            </a:xfrm>
          </p:grpSpPr>
          <p:pic>
            <p:nvPicPr>
              <p:cNvPr id="16" name="Рисунок 15" descr="Веб-дизайн">
                <a:extLst>
                  <a:ext uri="{FF2B5EF4-FFF2-40B4-BE49-F238E27FC236}">
                    <a16:creationId xmlns:a16="http://schemas.microsoft.com/office/drawing/2014/main" id="{47649B74-CF0F-2593-44AD-C11FF02DB1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6143174" y="2703504"/>
                <a:ext cx="1197293" cy="1197293"/>
              </a:xfrm>
              <a:prstGeom prst="rect">
                <a:avLst/>
              </a:prstGeom>
            </p:spPr>
          </p:pic>
          <p:sp>
            <p:nvSpPr>
              <p:cNvPr id="2077" name="TextBox 2076">
                <a:extLst>
                  <a:ext uri="{FF2B5EF4-FFF2-40B4-BE49-F238E27FC236}">
                    <a16:creationId xmlns:a16="http://schemas.microsoft.com/office/drawing/2014/main" id="{934EE86C-5293-033C-964C-09ED11E5B2B7}"/>
                  </a:ext>
                </a:extLst>
              </p:cNvPr>
              <p:cNvSpPr txBox="1"/>
              <p:nvPr/>
            </p:nvSpPr>
            <p:spPr>
              <a:xfrm>
                <a:off x="5742452" y="4053208"/>
                <a:ext cx="201818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ssh-</a:t>
                </a:r>
                <a:r>
                  <a:rPr lang="ru-RU" sz="2400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сервер</a:t>
                </a:r>
              </a:p>
            </p:txBody>
          </p:sp>
        </p:grpSp>
      </p:grpSp>
      <p:grpSp>
        <p:nvGrpSpPr>
          <p:cNvPr id="2088" name="Группа 2087">
            <a:extLst>
              <a:ext uri="{FF2B5EF4-FFF2-40B4-BE49-F238E27FC236}">
                <a16:creationId xmlns:a16="http://schemas.microsoft.com/office/drawing/2014/main" id="{BEB54851-F23D-5962-0E2A-A6DA9916528F}"/>
              </a:ext>
            </a:extLst>
          </p:cNvPr>
          <p:cNvGrpSpPr/>
          <p:nvPr/>
        </p:nvGrpSpPr>
        <p:grpSpPr>
          <a:xfrm>
            <a:off x="7331353" y="1213985"/>
            <a:ext cx="2018188" cy="1991828"/>
            <a:chOff x="7426573" y="1890732"/>
            <a:chExt cx="2018188" cy="1991828"/>
          </a:xfrm>
        </p:grpSpPr>
        <p:grpSp>
          <p:nvGrpSpPr>
            <p:cNvPr id="2081" name="Группа 2080">
              <a:extLst>
                <a:ext uri="{FF2B5EF4-FFF2-40B4-BE49-F238E27FC236}">
                  <a16:creationId xmlns:a16="http://schemas.microsoft.com/office/drawing/2014/main" id="{180525D6-5614-398E-2D7A-EED9DCA4E538}"/>
                </a:ext>
              </a:extLst>
            </p:cNvPr>
            <p:cNvGrpSpPr/>
            <p:nvPr/>
          </p:nvGrpSpPr>
          <p:grpSpPr>
            <a:xfrm>
              <a:off x="7426573" y="1890732"/>
              <a:ext cx="2018188" cy="1991828"/>
              <a:chOff x="8773457" y="2929592"/>
              <a:chExt cx="2083325" cy="2056114"/>
            </a:xfrm>
          </p:grpSpPr>
          <p:sp useBgFill="1">
            <p:nvSpPr>
              <p:cNvPr id="2084" name="Прямоугольник: скругленные углы 2083">
                <a:extLst>
                  <a:ext uri="{FF2B5EF4-FFF2-40B4-BE49-F238E27FC236}">
                    <a16:creationId xmlns:a16="http://schemas.microsoft.com/office/drawing/2014/main" id="{8C902327-7FDA-7FA5-4BE2-4AD6A96F141A}"/>
                  </a:ext>
                </a:extLst>
              </p:cNvPr>
              <p:cNvSpPr/>
              <p:nvPr/>
            </p:nvSpPr>
            <p:spPr>
              <a:xfrm>
                <a:off x="9018044" y="2929592"/>
                <a:ext cx="1594152" cy="1535266"/>
              </a:xfrm>
              <a:prstGeom prst="roundRect">
                <a:avLst/>
              </a:prstGeom>
              <a:ln w="38100">
                <a:gradFill flip="none" rotWithShape="1">
                  <a:gsLst>
                    <a:gs pos="0">
                      <a:srgbClr val="212121"/>
                    </a:gs>
                    <a:gs pos="100000">
                      <a:srgbClr val="202020"/>
                    </a:gs>
                  </a:gsLst>
                  <a:lin ang="16200000" scaled="1"/>
                  <a:tileRect/>
                </a:gradFill>
              </a:ln>
              <a:scene3d>
                <a:camera prst="orthographicFront"/>
                <a:lightRig rig="threePt" dir="t"/>
              </a:scene3d>
              <a:sp3d>
                <a:bevelT h="1270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tabLst>
                    <a:tab pos="2955925" algn="l"/>
                  </a:tabLst>
                </a:pPr>
                <a:endParaRPr lang="ru-RU" sz="1000" dirty="0">
                  <a:solidFill>
                    <a:schemeClr val="bg1"/>
                  </a:solidFill>
                  <a:latin typeface="Arial Black" panose="020B0A04020102020204" pitchFamily="34" charset="0"/>
                </a:endParaRPr>
              </a:p>
            </p:txBody>
          </p:sp>
          <p:sp>
            <p:nvSpPr>
              <p:cNvPr id="2083" name="TextBox 2082">
                <a:extLst>
                  <a:ext uri="{FF2B5EF4-FFF2-40B4-BE49-F238E27FC236}">
                    <a16:creationId xmlns:a16="http://schemas.microsoft.com/office/drawing/2014/main" id="{45739453-8DED-E368-A8DA-1461600C7662}"/>
                  </a:ext>
                </a:extLst>
              </p:cNvPr>
              <p:cNvSpPr txBox="1"/>
              <p:nvPr/>
            </p:nvSpPr>
            <p:spPr>
              <a:xfrm>
                <a:off x="8773457" y="4509141"/>
                <a:ext cx="2083325" cy="476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2400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База данных</a:t>
                </a:r>
              </a:p>
            </p:txBody>
          </p:sp>
        </p:grpSp>
        <p:pic>
          <p:nvPicPr>
            <p:cNvPr id="2087" name="Рисунок 2086" descr="База данных">
              <a:extLst>
                <a:ext uri="{FF2B5EF4-FFF2-40B4-BE49-F238E27FC236}">
                  <a16:creationId xmlns:a16="http://schemas.microsoft.com/office/drawing/2014/main" id="{1C86FAC3-B124-2313-0361-7765EA5C6F7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831953" y="2050756"/>
              <a:ext cx="1207428" cy="1207428"/>
            </a:xfrm>
            <a:prstGeom prst="rect">
              <a:avLst/>
            </a:prstGeom>
          </p:spPr>
        </p:pic>
      </p:grpSp>
      <p:cxnSp>
        <p:nvCxnSpPr>
          <p:cNvPr id="2090" name="Прямая со стрелкой 2089">
            <a:extLst>
              <a:ext uri="{FF2B5EF4-FFF2-40B4-BE49-F238E27FC236}">
                <a16:creationId xmlns:a16="http://schemas.microsoft.com/office/drawing/2014/main" id="{205A80CA-94D4-0282-8A81-7475C6F8B21C}"/>
              </a:ext>
            </a:extLst>
          </p:cNvPr>
          <p:cNvCxnSpPr>
            <a:cxnSpLocks/>
          </p:cNvCxnSpPr>
          <p:nvPr/>
        </p:nvCxnSpPr>
        <p:spPr>
          <a:xfrm flipV="1">
            <a:off x="2310537" y="1083905"/>
            <a:ext cx="1585823" cy="1532826"/>
          </a:xfrm>
          <a:prstGeom prst="straightConnector1">
            <a:avLst/>
          </a:prstGeom>
          <a:ln w="69850">
            <a:gradFill>
              <a:gsLst>
                <a:gs pos="0">
                  <a:srgbClr val="B9E901"/>
                </a:gs>
                <a:gs pos="100000">
                  <a:srgbClr val="83D34A"/>
                </a:gs>
              </a:gsLst>
              <a:lin ang="5400000" scaled="1"/>
            </a:gradFill>
            <a:tailEnd type="triangle"/>
          </a:ln>
          <a:effectLst>
            <a:glow rad="127000">
              <a:srgbClr val="92D050">
                <a:alpha val="9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8" name="Прямая со стрелкой 2097">
            <a:extLst>
              <a:ext uri="{FF2B5EF4-FFF2-40B4-BE49-F238E27FC236}">
                <a16:creationId xmlns:a16="http://schemas.microsoft.com/office/drawing/2014/main" id="{C38E770C-FFED-12D9-CCE4-0B6961FC91BA}"/>
              </a:ext>
            </a:extLst>
          </p:cNvPr>
          <p:cNvCxnSpPr>
            <a:cxnSpLocks/>
          </p:cNvCxnSpPr>
          <p:nvPr/>
        </p:nvCxnSpPr>
        <p:spPr>
          <a:xfrm>
            <a:off x="2310537" y="4177554"/>
            <a:ext cx="1585823" cy="1532826"/>
          </a:xfrm>
          <a:prstGeom prst="straightConnector1">
            <a:avLst/>
          </a:prstGeom>
          <a:ln w="69850">
            <a:gradFill>
              <a:gsLst>
                <a:gs pos="0">
                  <a:srgbClr val="B9E901"/>
                </a:gs>
                <a:gs pos="100000">
                  <a:srgbClr val="83D34A"/>
                </a:gs>
              </a:gsLst>
              <a:lin ang="5400000" scaled="1"/>
            </a:gradFill>
            <a:tailEnd type="triangle"/>
          </a:ln>
          <a:effectLst>
            <a:glow rad="114300">
              <a:srgbClr val="92D050">
                <a:alpha val="13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12" name="Группа 2111">
            <a:extLst>
              <a:ext uri="{FF2B5EF4-FFF2-40B4-BE49-F238E27FC236}">
                <a16:creationId xmlns:a16="http://schemas.microsoft.com/office/drawing/2014/main" id="{86F7E684-4EC4-B619-0F67-E693CFFB49AE}"/>
              </a:ext>
            </a:extLst>
          </p:cNvPr>
          <p:cNvGrpSpPr/>
          <p:nvPr/>
        </p:nvGrpSpPr>
        <p:grpSpPr>
          <a:xfrm>
            <a:off x="8340447" y="3205813"/>
            <a:ext cx="0" cy="774875"/>
            <a:chOff x="8340447" y="3205813"/>
            <a:chExt cx="0" cy="774875"/>
          </a:xfrm>
          <a:effectLst>
            <a:glow rad="114300">
              <a:srgbClr val="92D050">
                <a:alpha val="13000"/>
              </a:srgbClr>
            </a:glow>
          </a:effectLst>
        </p:grpSpPr>
        <p:cxnSp>
          <p:nvCxnSpPr>
            <p:cNvPr id="2102" name="Прямая со стрелкой 2101">
              <a:extLst>
                <a:ext uri="{FF2B5EF4-FFF2-40B4-BE49-F238E27FC236}">
                  <a16:creationId xmlns:a16="http://schemas.microsoft.com/office/drawing/2014/main" id="{53D3A6C8-3E61-AACF-DA11-59D55FAAE676}"/>
                </a:ext>
              </a:extLst>
            </p:cNvPr>
            <p:cNvCxnSpPr>
              <a:cxnSpLocks/>
              <a:endCxn id="2083" idx="2"/>
            </p:cNvCxnSpPr>
            <p:nvPr/>
          </p:nvCxnSpPr>
          <p:spPr>
            <a:xfrm flipV="1">
              <a:off x="8340447" y="3205813"/>
              <a:ext cx="0" cy="446375"/>
            </a:xfrm>
            <a:prstGeom prst="straightConnector1">
              <a:avLst/>
            </a:prstGeom>
            <a:ln w="69850">
              <a:gradFill>
                <a:gsLst>
                  <a:gs pos="0">
                    <a:srgbClr val="B9E901"/>
                  </a:gs>
                  <a:gs pos="100000">
                    <a:srgbClr val="83D34A"/>
                  </a:gs>
                </a:gsLst>
                <a:lin ang="5400000" scaled="1"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6" name="Прямая со стрелкой 2105">
              <a:extLst>
                <a:ext uri="{FF2B5EF4-FFF2-40B4-BE49-F238E27FC236}">
                  <a16:creationId xmlns:a16="http://schemas.microsoft.com/office/drawing/2014/main" id="{B5F5ADF8-A07A-D2EC-3B18-8D7F667F6F48}"/>
                </a:ext>
              </a:extLst>
            </p:cNvPr>
            <p:cNvCxnSpPr>
              <a:cxnSpLocks/>
            </p:cNvCxnSpPr>
            <p:nvPr/>
          </p:nvCxnSpPr>
          <p:spPr>
            <a:xfrm>
              <a:off x="8340447" y="3438031"/>
              <a:ext cx="0" cy="542657"/>
            </a:xfrm>
            <a:prstGeom prst="straightConnector1">
              <a:avLst/>
            </a:prstGeom>
            <a:ln w="69850">
              <a:gradFill>
                <a:gsLst>
                  <a:gs pos="0">
                    <a:srgbClr val="B9E901"/>
                  </a:gs>
                  <a:gs pos="100000">
                    <a:srgbClr val="83D34A"/>
                  </a:gs>
                </a:gsLst>
                <a:lin ang="5400000" scaled="1"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13" name="Прямая со стрелкой 2112">
            <a:extLst>
              <a:ext uri="{FF2B5EF4-FFF2-40B4-BE49-F238E27FC236}">
                <a16:creationId xmlns:a16="http://schemas.microsoft.com/office/drawing/2014/main" id="{A93728AE-7FEE-FCB1-F6B3-E21D218C7FA7}"/>
              </a:ext>
            </a:extLst>
          </p:cNvPr>
          <p:cNvCxnSpPr>
            <a:cxnSpLocks/>
          </p:cNvCxnSpPr>
          <p:nvPr/>
        </p:nvCxnSpPr>
        <p:spPr>
          <a:xfrm flipV="1">
            <a:off x="5607939" y="4810238"/>
            <a:ext cx="1869601" cy="929678"/>
          </a:xfrm>
          <a:prstGeom prst="straightConnector1">
            <a:avLst/>
          </a:prstGeom>
          <a:ln w="69850">
            <a:gradFill>
              <a:gsLst>
                <a:gs pos="0">
                  <a:srgbClr val="B9E901"/>
                </a:gs>
                <a:gs pos="100000">
                  <a:srgbClr val="83D34A"/>
                </a:gs>
              </a:gsLst>
              <a:lin ang="5400000" scaled="1"/>
            </a:gradFill>
            <a:tailEnd type="triangle"/>
          </a:ln>
          <a:effectLst>
            <a:glow rad="114300">
              <a:srgbClr val="92D050">
                <a:alpha val="13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8" name="Прямая со стрелкой 2117">
            <a:extLst>
              <a:ext uri="{FF2B5EF4-FFF2-40B4-BE49-F238E27FC236}">
                <a16:creationId xmlns:a16="http://schemas.microsoft.com/office/drawing/2014/main" id="{8056EE47-969F-9694-6AD4-D27A6D9948B4}"/>
              </a:ext>
            </a:extLst>
          </p:cNvPr>
          <p:cNvCxnSpPr>
            <a:cxnSpLocks/>
          </p:cNvCxnSpPr>
          <p:nvPr/>
        </p:nvCxnSpPr>
        <p:spPr>
          <a:xfrm>
            <a:off x="5607940" y="1111190"/>
            <a:ext cx="1869601" cy="929678"/>
          </a:xfrm>
          <a:prstGeom prst="straightConnector1">
            <a:avLst/>
          </a:prstGeom>
          <a:ln w="69850">
            <a:gradFill>
              <a:gsLst>
                <a:gs pos="0">
                  <a:srgbClr val="B9E901"/>
                </a:gs>
                <a:gs pos="100000">
                  <a:srgbClr val="83D34A"/>
                </a:gs>
              </a:gsLst>
              <a:lin ang="5400000" scaled="1"/>
            </a:gradFill>
            <a:tailEnd type="triangle"/>
          </a:ln>
          <a:effectLst>
            <a:glow rad="114300">
              <a:srgbClr val="92D050">
                <a:alpha val="13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0" name="Прямая со стрелкой 2119">
            <a:extLst>
              <a:ext uri="{FF2B5EF4-FFF2-40B4-BE49-F238E27FC236}">
                <a16:creationId xmlns:a16="http://schemas.microsoft.com/office/drawing/2014/main" id="{33AB262B-834E-AB12-84CB-C07E2EEB923E}"/>
              </a:ext>
            </a:extLst>
          </p:cNvPr>
          <p:cNvCxnSpPr>
            <a:cxnSpLocks/>
          </p:cNvCxnSpPr>
          <p:nvPr/>
        </p:nvCxnSpPr>
        <p:spPr>
          <a:xfrm>
            <a:off x="5618533" y="3440980"/>
            <a:ext cx="1869601" cy="929678"/>
          </a:xfrm>
          <a:prstGeom prst="straightConnector1">
            <a:avLst/>
          </a:prstGeom>
          <a:ln w="69850">
            <a:gradFill>
              <a:gsLst>
                <a:gs pos="0">
                  <a:srgbClr val="B9E901"/>
                </a:gs>
                <a:gs pos="100000">
                  <a:srgbClr val="83D34A"/>
                </a:gs>
              </a:gsLst>
              <a:lin ang="5400000" scaled="1"/>
            </a:gradFill>
            <a:tailEnd type="triangle"/>
          </a:ln>
          <a:effectLst>
            <a:glow rad="114300">
              <a:srgbClr val="92D050">
                <a:alpha val="13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9619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0255F-BD8A-9FA9-1997-91D860B72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FE538B4-89C2-0A7A-CCC8-B90B4D7E1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265572" cy="6977636"/>
          </a:xfrm>
          <a:prstGeom prst="rect">
            <a:avLst/>
          </a:prstGeom>
        </p:spPr>
      </p:pic>
      <p:sp useBgFill="1"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A64512C7-71B2-04AD-95D8-595DE7214E9C}"/>
              </a:ext>
            </a:extLst>
          </p:cNvPr>
          <p:cNvSpPr/>
          <p:nvPr/>
        </p:nvSpPr>
        <p:spPr>
          <a:xfrm>
            <a:off x="772160" y="1519747"/>
            <a:ext cx="4937485" cy="4287134"/>
          </a:xfrm>
          <a:prstGeom prst="roundRect">
            <a:avLst/>
          </a:prstGeom>
          <a:ln w="38100">
            <a:gradFill flip="none" rotWithShape="1">
              <a:gsLst>
                <a:gs pos="0">
                  <a:srgbClr val="212121"/>
                </a:gs>
                <a:gs pos="100000">
                  <a:srgbClr val="202020"/>
                </a:gs>
              </a:gsLst>
              <a:lin ang="16200000" scaled="1"/>
              <a:tileRect/>
            </a:gradFill>
          </a:ln>
          <a:scene3d>
            <a:camera prst="orthographicFront"/>
            <a:lightRig rig="threePt" dir="t"/>
          </a:scene3d>
          <a:sp3d>
            <a:bevelT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>
              <a:tabLst>
                <a:tab pos="2955925" algn="l"/>
              </a:tabLst>
            </a:pPr>
            <a:r>
              <a:rPr lang="en-US" sz="4400" dirty="0">
                <a:gradFill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Wazuh</a:t>
            </a:r>
            <a:endParaRPr lang="ru-RU" sz="4400" dirty="0">
              <a:gradFill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100000">
                    <a:schemeClr val="accent5">
                      <a:lumMod val="75000"/>
                    </a:schemeClr>
                  </a:gs>
                </a:gsLst>
                <a:path path="circle">
                  <a:fillToRect l="50000" t="50000" r="50000" b="50000"/>
                </a:path>
              </a:gradFill>
              <a:latin typeface="Arial Black" panose="020B0A04020102020204" pitchFamily="34" charset="0"/>
            </a:endParaRPr>
          </a:p>
          <a:p>
            <a:pPr marL="285750" indent="-285750">
              <a:buFont typeface="Arial Black" panose="020B0A04020102020204" pitchFamily="34" charset="0"/>
              <a:buChar char="→"/>
              <a:tabLst>
                <a:tab pos="2955925" algn="l"/>
              </a:tabLst>
            </a:pPr>
            <a:r>
              <a:rPr lang="en-US" dirty="0">
                <a:gradFill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SIEM, XDR</a:t>
            </a:r>
            <a:endParaRPr lang="ru-RU" dirty="0">
              <a:gradFill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100000">
                    <a:schemeClr val="accent5">
                      <a:lumMod val="75000"/>
                    </a:schemeClr>
                  </a:gs>
                </a:gsLst>
                <a:path path="circle">
                  <a:fillToRect l="50000" t="50000" r="50000" b="50000"/>
                </a:path>
              </a:gradFill>
              <a:latin typeface="Arial Black" panose="020B0A04020102020204" pitchFamily="34" charset="0"/>
            </a:endParaRPr>
          </a:p>
          <a:p>
            <a:pPr marL="285750" indent="-285750">
              <a:buFont typeface="Arial Black" panose="020B0A04020102020204" pitchFamily="34" charset="0"/>
              <a:buChar char="→"/>
              <a:tabLst>
                <a:tab pos="2955925" algn="l"/>
              </a:tabLst>
            </a:pPr>
            <a:r>
              <a:rPr lang="en-US" dirty="0">
                <a:gradFill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server + </a:t>
            </a:r>
            <a:r>
              <a:rPr lang="ru-RU" dirty="0">
                <a:gradFill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агенты</a:t>
            </a:r>
          </a:p>
          <a:p>
            <a:pPr>
              <a:tabLst>
                <a:tab pos="2955925" algn="l"/>
              </a:tabLst>
            </a:pPr>
            <a:endParaRPr lang="en-US" dirty="0">
              <a:gradFill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100000">
                    <a:schemeClr val="accent5">
                      <a:lumMod val="75000"/>
                    </a:schemeClr>
                  </a:gs>
                </a:gsLst>
                <a:path path="circle">
                  <a:fillToRect l="50000" t="50000" r="50000" b="50000"/>
                </a:path>
              </a:gra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2955925" algn="l"/>
              </a:tabLst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Сбор событий с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wazuh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агентов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2955925" algn="l"/>
              </a:tabLst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Выявление инцидентов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2955925" algn="l"/>
              </a:tabLst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Аналитический дашборд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2955925" algn="l"/>
              </a:tabLst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Основа для рейтингования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2955925" algn="l"/>
              </a:tabLst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Связка с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pfSense</a:t>
            </a:r>
            <a:endParaRPr lang="ru-RU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>
              <a:buFont typeface="Arial Black" panose="020B0A04020102020204" pitchFamily="34" charset="0"/>
              <a:buChar char="►"/>
              <a:tabLst>
                <a:tab pos="2955925" algn="l"/>
              </a:tabLst>
            </a:pPr>
            <a:endParaRPr lang="en-US" dirty="0">
              <a:gradFill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100000">
                    <a:schemeClr val="accent5">
                      <a:lumMod val="75000"/>
                    </a:schemeClr>
                  </a:gs>
                </a:gsLst>
                <a:path path="circle">
                  <a:fillToRect l="50000" t="50000" r="50000" b="50000"/>
                </a:path>
              </a:gradFill>
              <a:latin typeface="Arial Black" panose="020B0A04020102020204" pitchFamily="34" charset="0"/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17FAEDD6-E2CD-651D-9E87-D05F574B2E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873" y="503564"/>
            <a:ext cx="11710253" cy="715818"/>
          </a:xfrm>
          <a:scene3d>
            <a:camera prst="orthographicFront">
              <a:rot lat="0" lon="0" rev="0"/>
            </a:camera>
            <a:lightRig rig="threePt" dir="t"/>
          </a:scene3d>
          <a:sp3d z="177800"/>
        </p:spPr>
        <p:txBody>
          <a:bodyPr>
            <a:normAutofit fontScale="90000"/>
          </a:bodyPr>
          <a:lstStyle/>
          <a:p>
            <a:r>
              <a:rPr lang="ru-RU" sz="4900" dirty="0">
                <a:gradFill>
                  <a:gsLst>
                    <a:gs pos="0">
                      <a:srgbClr val="B9E901"/>
                    </a:gs>
                    <a:gs pos="100000">
                      <a:srgbClr val="92D050"/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Использованные  решения</a:t>
            </a:r>
            <a:endParaRPr lang="ru-RU" sz="8000" dirty="0">
              <a:gradFill>
                <a:gsLst>
                  <a:gs pos="0">
                    <a:srgbClr val="B9E901"/>
                  </a:gs>
                  <a:gs pos="100000">
                    <a:srgbClr val="92D050"/>
                  </a:gs>
                </a:gsLst>
                <a:path path="circle">
                  <a:fillToRect l="50000" t="50000" r="50000" b="50000"/>
                </a:path>
              </a:gradFill>
              <a:latin typeface="Arial Black" panose="020B0A04020102020204" pitchFamily="34" charset="0"/>
            </a:endParaRPr>
          </a:p>
        </p:txBody>
      </p:sp>
      <p:sp useBgFill="1"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F3D3A67F-6BDD-10F1-FA6A-D9CAB0E64F4C}"/>
              </a:ext>
            </a:extLst>
          </p:cNvPr>
          <p:cNvSpPr/>
          <p:nvPr/>
        </p:nvSpPr>
        <p:spPr>
          <a:xfrm>
            <a:off x="6482355" y="1519747"/>
            <a:ext cx="4937485" cy="4287134"/>
          </a:xfrm>
          <a:prstGeom prst="roundRect">
            <a:avLst/>
          </a:prstGeom>
          <a:ln w="38100">
            <a:gradFill flip="none" rotWithShape="1">
              <a:gsLst>
                <a:gs pos="0">
                  <a:srgbClr val="212121"/>
                </a:gs>
                <a:gs pos="100000">
                  <a:srgbClr val="202020"/>
                </a:gs>
              </a:gsLst>
              <a:lin ang="16200000" scaled="1"/>
              <a:tileRect/>
            </a:gradFill>
          </a:ln>
          <a:scene3d>
            <a:camera prst="orthographicFront"/>
            <a:lightRig rig="threePt" dir="t"/>
          </a:scene3d>
          <a:sp3d>
            <a:bevelT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955925" algn="l"/>
              </a:tabLst>
              <a:defRPr/>
            </a:pPr>
            <a:r>
              <a:rPr lang="en-US" sz="4400" dirty="0">
                <a:gradFill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2700000" scaled="1"/>
                </a:gradFill>
                <a:latin typeface="Arial Black" panose="020B0A04020102020204" pitchFamily="34" charset="0"/>
              </a:rPr>
              <a:t>pfSense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2700000" scaled="1"/>
              </a:gra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Black" panose="020B0A04020102020204" pitchFamily="34" charset="0"/>
              <a:buChar char="→"/>
              <a:tabLst>
                <a:tab pos="2955925" algn="l"/>
              </a:tabLst>
              <a:defRPr/>
            </a:pPr>
            <a:r>
              <a:rPr lang="en-US" dirty="0">
                <a:gradFill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2700000" scaled="1"/>
                </a:gradFill>
                <a:latin typeface="Arial Black" panose="020B0A04020102020204" pitchFamily="34" charset="0"/>
              </a:rPr>
              <a:t>Firewall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2700000" scaled="1"/>
              </a:gra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Black" panose="020B0A04020102020204" pitchFamily="34" charset="0"/>
              <a:buChar char="→"/>
              <a:tabLst>
                <a:tab pos="2955925" algn="l"/>
              </a:tabLst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2700000" scaled="1"/>
                </a:gra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Шлюз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>
                <a:tab pos="2955925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2700000" scaled="1"/>
              </a:gra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2955925" algn="l"/>
              </a:tabLst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Сегментация сети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2955925" algn="l"/>
              </a:tabLst>
              <a:defRPr/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Гибкая настройка правил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2955925" algn="l"/>
              </a:tabLst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Динамическая блокировка по рейтингу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>
                <a:tab pos="2955925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2700000" scaled="1"/>
              </a:gra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5625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02E27-5B4D-EB60-37B8-81F8B37D8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833FA8D1-B56C-D18B-DEFA-4E1B114B63B1}"/>
              </a:ext>
            </a:extLst>
          </p:cNvPr>
          <p:cNvGrpSpPr/>
          <p:nvPr/>
        </p:nvGrpSpPr>
        <p:grpSpPr>
          <a:xfrm>
            <a:off x="850332" y="810463"/>
            <a:ext cx="10491335" cy="5970622"/>
            <a:chOff x="847225" y="887378"/>
            <a:chExt cx="10491335" cy="5970622"/>
          </a:xfrm>
        </p:grpSpPr>
        <p:sp useBgFill="1">
          <p:nvSpPr>
            <p:cNvPr id="23" name="Прямоугольник: скругленные углы 22">
              <a:extLst>
                <a:ext uri="{FF2B5EF4-FFF2-40B4-BE49-F238E27FC236}">
                  <a16:creationId xmlns:a16="http://schemas.microsoft.com/office/drawing/2014/main" id="{D3AF70EB-E890-7638-BA41-90EBDC3F5469}"/>
                </a:ext>
              </a:extLst>
            </p:cNvPr>
            <p:cNvSpPr/>
            <p:nvPr/>
          </p:nvSpPr>
          <p:spPr>
            <a:xfrm>
              <a:off x="847225" y="887378"/>
              <a:ext cx="10491335" cy="5970622"/>
            </a:xfrm>
            <a:prstGeom prst="roundRect">
              <a:avLst>
                <a:gd name="adj" fmla="val 2170"/>
              </a:avLst>
            </a:prstGeom>
            <a:ln w="38100">
              <a:gradFill flip="none" rotWithShape="1">
                <a:gsLst>
                  <a:gs pos="0">
                    <a:srgbClr val="212121"/>
                  </a:gs>
                  <a:gs pos="100000">
                    <a:srgbClr val="202020"/>
                  </a:gs>
                </a:gsLst>
                <a:lin ang="16200000" scaled="1"/>
                <a:tileRect/>
              </a:gradFill>
            </a:ln>
            <a:scene3d>
              <a:camera prst="orthographicFront"/>
              <a:lightRig rig="threePt" dir="t"/>
            </a:scene3d>
            <a:sp3d>
              <a:bevelT h="1270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tabLst>
                  <a:tab pos="2955925" algn="l"/>
                </a:tabLst>
              </a:pPr>
              <a:endParaRPr lang="ru-RU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D8D6A27C-E5F6-27C5-064D-D119D30717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7450" y="1066989"/>
              <a:ext cx="10117100" cy="5626847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B w="127000"/>
            </a:sp3d>
          </p:spPr>
        </p:pic>
      </p:grp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56A9F069-4CEC-D113-2778-59AEBD86E1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177184" y="135586"/>
            <a:ext cx="11710253" cy="715818"/>
          </a:xfrm>
          <a:scene3d>
            <a:camera prst="orthographicFront">
              <a:rot lat="0" lon="0" rev="0"/>
            </a:camera>
            <a:lightRig rig="threePt" dir="t"/>
          </a:scene3d>
          <a:sp3d z="177800"/>
        </p:spPr>
        <p:txBody>
          <a:bodyPr>
            <a:normAutofit fontScale="90000"/>
          </a:bodyPr>
          <a:lstStyle/>
          <a:p>
            <a:r>
              <a:rPr lang="en-US" dirty="0">
                <a:gradFill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2700000" scaled="1"/>
                </a:gradFill>
                <a:latin typeface="Arial Black" panose="020B0A04020102020204" pitchFamily="34" charset="0"/>
              </a:rPr>
              <a:t>pfSense</a:t>
            </a:r>
            <a:endParaRPr lang="ru-RU" sz="8000" dirty="0">
              <a:gradFill>
                <a:gsLst>
                  <a:gs pos="0">
                    <a:srgbClr val="B9E901"/>
                  </a:gs>
                  <a:gs pos="100000">
                    <a:srgbClr val="92D050"/>
                  </a:gs>
                </a:gsLst>
                <a:path path="circle">
                  <a:fillToRect l="50000" t="50000" r="50000" b="50000"/>
                </a:path>
              </a:gradFill>
              <a:latin typeface="Arial Black" panose="020B0A04020102020204" pitchFamily="34" charset="0"/>
            </a:endParaRP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E34006B8-7AA0-7A6F-36F2-26B25D490988}"/>
              </a:ext>
            </a:extLst>
          </p:cNvPr>
          <p:cNvCxnSpPr>
            <a:cxnSpLocks/>
          </p:cNvCxnSpPr>
          <p:nvPr/>
        </p:nvCxnSpPr>
        <p:spPr>
          <a:xfrm flipH="1">
            <a:off x="6441769" y="3603071"/>
            <a:ext cx="1905000" cy="0"/>
          </a:xfrm>
          <a:prstGeom prst="straightConnector1">
            <a:avLst/>
          </a:prstGeom>
          <a:ln w="38100">
            <a:gradFill>
              <a:gsLst>
                <a:gs pos="0">
                  <a:srgbClr val="B9E901"/>
                </a:gs>
                <a:gs pos="100000">
                  <a:srgbClr val="83D34A"/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0D518BD1-C866-1932-BE89-62508755720F}"/>
              </a:ext>
            </a:extLst>
          </p:cNvPr>
          <p:cNvCxnSpPr>
            <a:cxnSpLocks/>
          </p:cNvCxnSpPr>
          <p:nvPr/>
        </p:nvCxnSpPr>
        <p:spPr>
          <a:xfrm flipH="1">
            <a:off x="6449389" y="3880412"/>
            <a:ext cx="1905000" cy="0"/>
          </a:xfrm>
          <a:prstGeom prst="straightConnector1">
            <a:avLst/>
          </a:prstGeom>
          <a:ln w="38100">
            <a:gradFill>
              <a:gsLst>
                <a:gs pos="0">
                  <a:srgbClr val="B9E901"/>
                </a:gs>
                <a:gs pos="100000">
                  <a:srgbClr val="83D34A"/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EE4CBA5-BA8A-FBE2-9EC6-5CCB602F6A67}"/>
              </a:ext>
            </a:extLst>
          </p:cNvPr>
          <p:cNvSpPr txBox="1"/>
          <p:nvPr/>
        </p:nvSpPr>
        <p:spPr>
          <a:xfrm>
            <a:off x="8354389" y="3457220"/>
            <a:ext cx="4526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gradFill>
                  <a:gsLst>
                    <a:gs pos="0">
                      <a:srgbClr val="B9E901"/>
                    </a:gs>
                    <a:gs pos="100000">
                      <a:srgbClr val="92D050"/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Сеть заказчика</a:t>
            </a:r>
            <a:endParaRPr lang="ru-RU" sz="1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0D874F-3E5C-7AC6-B501-C7DDF2E9EF95}"/>
              </a:ext>
            </a:extLst>
          </p:cNvPr>
          <p:cNvSpPr txBox="1"/>
          <p:nvPr/>
        </p:nvSpPr>
        <p:spPr>
          <a:xfrm>
            <a:off x="8354389" y="3711135"/>
            <a:ext cx="4526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gradFill>
                  <a:gsLst>
                    <a:gs pos="0">
                      <a:srgbClr val="B9E901"/>
                    </a:gs>
                    <a:gs pos="100000">
                      <a:srgbClr val="92D050"/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Сеть подрядчика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437987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76C1A-9194-9DB3-E370-A2EBE6B34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84A61FB-686B-04DD-8280-0EDCCBC1D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265572" cy="6977636"/>
          </a:xfrm>
          <a:prstGeom prst="rect">
            <a:avLst/>
          </a:prstGeom>
        </p:spPr>
      </p:pic>
      <p:sp useBgFill="1"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32AB5103-BB3D-9EED-0960-251506CB006F}"/>
              </a:ext>
            </a:extLst>
          </p:cNvPr>
          <p:cNvSpPr/>
          <p:nvPr/>
        </p:nvSpPr>
        <p:spPr>
          <a:xfrm>
            <a:off x="1125312" y="1219200"/>
            <a:ext cx="4471284" cy="1709362"/>
          </a:xfrm>
          <a:prstGeom prst="roundRect">
            <a:avLst/>
          </a:prstGeom>
          <a:ln w="38100">
            <a:gradFill flip="none" rotWithShape="1">
              <a:gsLst>
                <a:gs pos="0">
                  <a:srgbClr val="212121"/>
                </a:gs>
                <a:gs pos="100000">
                  <a:srgbClr val="202020"/>
                </a:gs>
              </a:gsLst>
              <a:lin ang="16200000" scaled="1"/>
              <a:tileRect/>
            </a:gradFill>
          </a:ln>
          <a:scene3d>
            <a:camera prst="orthographicFront"/>
            <a:lightRig rig="threePt" dir="t"/>
          </a:scene3d>
          <a:sp3d>
            <a:bevelT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tabLst>
                <a:tab pos="2955925" algn="l"/>
              </a:tabLst>
            </a:pPr>
            <a:r>
              <a:rPr lang="ru-RU" sz="2800" dirty="0">
                <a:solidFill>
                  <a:schemeClr val="bg1">
                    <a:lumMod val="85000"/>
                  </a:schemeClr>
                </a:solidFill>
                <a:latin typeface="Arial Black" panose="020B0A04020102020204" pitchFamily="34" charset="0"/>
              </a:rPr>
              <a:t>Информационные и штатные события</a:t>
            </a:r>
            <a:endParaRPr lang="en-US" sz="2800" dirty="0">
              <a:solidFill>
                <a:schemeClr val="bg1">
                  <a:lumMod val="8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BF2E3A7A-9645-2F9B-355C-79595BCC68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3548" y="-400112"/>
            <a:ext cx="7624904" cy="1219200"/>
          </a:xfrm>
          <a:scene3d>
            <a:camera prst="orthographicFront">
              <a:rot lat="0" lon="0" rev="0"/>
            </a:camera>
            <a:lightRig rig="threePt" dir="t"/>
          </a:scene3d>
          <a:sp3d z="177800"/>
        </p:spPr>
        <p:txBody>
          <a:bodyPr>
            <a:noAutofit/>
          </a:bodyPr>
          <a:lstStyle/>
          <a:p>
            <a:r>
              <a:rPr lang="ru-RU" sz="4000" dirty="0">
                <a:gradFill>
                  <a:gsLst>
                    <a:gs pos="0">
                      <a:srgbClr val="B9E901"/>
                    </a:gs>
                    <a:gs pos="100000">
                      <a:srgbClr val="92D050"/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Классификация</a:t>
            </a:r>
            <a:r>
              <a:rPr lang="ru-RU" sz="3600" dirty="0">
                <a:gradFill>
                  <a:gsLst>
                    <a:gs pos="0">
                      <a:srgbClr val="B9E901"/>
                    </a:gs>
                    <a:gs pos="100000">
                      <a:srgbClr val="92D050"/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 </a:t>
            </a:r>
            <a:r>
              <a:rPr lang="ru-RU" sz="4000" dirty="0">
                <a:gradFill>
                  <a:gsLst>
                    <a:gs pos="0">
                      <a:srgbClr val="B9E901"/>
                    </a:gs>
                    <a:gs pos="100000">
                      <a:srgbClr val="92D050"/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событий</a:t>
            </a:r>
            <a:endParaRPr lang="ru-RU" dirty="0">
              <a:gradFill>
                <a:gsLst>
                  <a:gs pos="0">
                    <a:srgbClr val="B9E901"/>
                  </a:gs>
                  <a:gs pos="100000">
                    <a:srgbClr val="92D050"/>
                  </a:gs>
                </a:gsLst>
                <a:path path="circle">
                  <a:fillToRect l="50000" t="50000" r="50000" b="50000"/>
                </a:path>
              </a:gradFill>
              <a:latin typeface="Arial Black" panose="020B0A04020102020204" pitchFamily="34" charset="0"/>
            </a:endParaRP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B2D24CD4-AD1E-8258-5AF7-311F6F4FCCD0}"/>
              </a:ext>
            </a:extLst>
          </p:cNvPr>
          <p:cNvSpPr txBox="1">
            <a:spLocks/>
          </p:cNvSpPr>
          <p:nvPr/>
        </p:nvSpPr>
        <p:spPr>
          <a:xfrm>
            <a:off x="664345" y="4191183"/>
            <a:ext cx="3378026" cy="1630219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  <a:sp3d z="177800"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1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 useBgFill="1"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D39D1874-E218-9078-16C2-61B642135248}"/>
              </a:ext>
            </a:extLst>
          </p:cNvPr>
          <p:cNvSpPr/>
          <p:nvPr/>
        </p:nvSpPr>
        <p:spPr>
          <a:xfrm>
            <a:off x="6595406" y="1219200"/>
            <a:ext cx="4471282" cy="1709361"/>
          </a:xfrm>
          <a:prstGeom prst="roundRect">
            <a:avLst/>
          </a:prstGeom>
          <a:ln w="38100">
            <a:gradFill flip="none" rotWithShape="1">
              <a:gsLst>
                <a:gs pos="0">
                  <a:srgbClr val="212121"/>
                </a:gs>
                <a:gs pos="100000">
                  <a:srgbClr val="202020"/>
                </a:gs>
              </a:gsLst>
              <a:lin ang="16200000" scaled="1"/>
              <a:tileRect/>
            </a:gradFill>
          </a:ln>
          <a:scene3d>
            <a:camera prst="orthographicFront"/>
            <a:lightRig rig="threePt" dir="t"/>
          </a:scene3d>
          <a:sp3d>
            <a:bevelT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tabLst>
                <a:tab pos="2955925" algn="l"/>
              </a:tabLst>
            </a:pPr>
            <a:r>
              <a:rPr lang="ru-RU" sz="2800" dirty="0"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Подозрительная активность и аномалии</a:t>
            </a:r>
            <a:endParaRPr lang="en-US" sz="2800" dirty="0">
              <a:gradFill>
                <a:gsLst>
                  <a:gs pos="0">
                    <a:schemeClr val="accent1">
                      <a:lumMod val="20000"/>
                      <a:lumOff val="8000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path path="circle">
                  <a:fillToRect l="50000" t="50000" r="50000" b="50000"/>
                </a:path>
              </a:gradFill>
              <a:latin typeface="Arial Black" panose="020B0A04020102020204" pitchFamily="34" charset="0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E7101BC4-3419-40E6-1DB6-09F7E54A103D}"/>
              </a:ext>
            </a:extLst>
          </p:cNvPr>
          <p:cNvSpPr/>
          <p:nvPr/>
        </p:nvSpPr>
        <p:spPr>
          <a:xfrm>
            <a:off x="1125312" y="3208079"/>
            <a:ext cx="4471282" cy="3231581"/>
          </a:xfrm>
          <a:prstGeom prst="roundRect">
            <a:avLst/>
          </a:prstGeom>
          <a:solidFill>
            <a:schemeClr val="accent1">
              <a:alpha val="0"/>
            </a:schemeClr>
          </a:solidFill>
          <a:ln w="22225">
            <a:gradFill flip="none" rotWithShape="1">
              <a:gsLst>
                <a:gs pos="2000">
                  <a:schemeClr val="bg1">
                    <a:lumMod val="75000"/>
                  </a:schemeClr>
                </a:gs>
                <a:gs pos="100000">
                  <a:srgbClr val="202020"/>
                </a:gs>
              </a:gsLst>
              <a:lin ang="2700000" scaled="1"/>
              <a:tileRect/>
            </a:gradFill>
          </a:ln>
          <a:effectLst>
            <a:glow rad="88900">
              <a:schemeClr val="bg1">
                <a:lumMod val="85000"/>
                <a:alpha val="12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ru-RU" sz="2000" dirty="0">
                <a:solidFill>
                  <a:schemeClr val="bg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Уровни 0-4</a:t>
            </a:r>
            <a:r>
              <a:rPr lang="ru-RU" sz="2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ru-RU" sz="2000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события, не несущие прямой угрозы. Показывают нормальную работу системы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D8073E81-A637-3786-16BF-8081BDBD7E75}"/>
              </a:ext>
            </a:extLst>
          </p:cNvPr>
          <p:cNvSpPr/>
          <p:nvPr/>
        </p:nvSpPr>
        <p:spPr>
          <a:xfrm>
            <a:off x="6595406" y="3208079"/>
            <a:ext cx="4471282" cy="3231581"/>
          </a:xfrm>
          <a:prstGeom prst="roundRect">
            <a:avLst/>
          </a:prstGeom>
          <a:solidFill>
            <a:srgbClr val="D7E0F2">
              <a:alpha val="10000"/>
            </a:srgbClr>
          </a:solidFill>
          <a:ln w="22225">
            <a:gradFill flip="none" rotWithShape="1">
              <a:gsLst>
                <a:gs pos="2000">
                  <a:schemeClr val="accent1">
                    <a:lumMod val="60000"/>
                    <a:lumOff val="40000"/>
                  </a:schemeClr>
                </a:gs>
                <a:gs pos="100000">
                  <a:schemeClr val="tx2">
                    <a:lumMod val="50000"/>
                  </a:schemeClr>
                </a:gs>
              </a:gsLst>
              <a:lin ang="2700000" scaled="1"/>
              <a:tileRect/>
            </a:gradFill>
          </a:ln>
          <a:effectLst>
            <a:glow rad="88900">
              <a:schemeClr val="accent1">
                <a:alpha val="13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ru-RU" sz="2000" dirty="0">
                <a:solidFill>
                  <a:srgbClr val="C2D1E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5: </a:t>
            </a:r>
            <a:r>
              <a:rPr lang="ru-RU" sz="2000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Ошибки пользователя</a:t>
            </a:r>
          </a:p>
          <a:p>
            <a:pPr>
              <a:spcAft>
                <a:spcPts val="600"/>
              </a:spcAft>
            </a:pPr>
            <a:r>
              <a:rPr lang="ru-RU" sz="2000" dirty="0">
                <a:solidFill>
                  <a:srgbClr val="C2D1E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6: </a:t>
            </a:r>
            <a:r>
              <a:rPr lang="ru-RU" sz="2000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Неэффективные атаки</a:t>
            </a:r>
          </a:p>
          <a:p>
            <a:pPr>
              <a:spcAft>
                <a:spcPts val="600"/>
              </a:spcAft>
            </a:pPr>
            <a:r>
              <a:rPr lang="ru-RU" sz="2000" dirty="0">
                <a:solidFill>
                  <a:srgbClr val="C2D1E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7: </a:t>
            </a:r>
            <a:r>
              <a:rPr lang="ru-RU" sz="2000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«Сигнальные» слова в логах</a:t>
            </a:r>
          </a:p>
          <a:p>
            <a:pPr>
              <a:spcAft>
                <a:spcPts val="600"/>
              </a:spcAft>
            </a:pPr>
            <a:r>
              <a:rPr lang="ru-RU" sz="2000" dirty="0">
                <a:solidFill>
                  <a:srgbClr val="C2D1E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8: </a:t>
            </a:r>
            <a:r>
              <a:rPr lang="ru-RU" sz="2000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Первые события в своём классе</a:t>
            </a:r>
          </a:p>
        </p:txBody>
      </p:sp>
    </p:spTree>
    <p:extLst>
      <p:ext uri="{BB962C8B-B14F-4D97-AF65-F5344CB8AC3E}">
        <p14:creationId xmlns:p14="http://schemas.microsoft.com/office/powerpoint/2010/main" val="2902307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0045C-1F31-2406-41AC-2847F1004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7BC5DA7-6522-5E86-106F-2DF83C9B5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265572" cy="6977636"/>
          </a:xfrm>
          <a:prstGeom prst="rect">
            <a:avLst/>
          </a:prstGeom>
        </p:spPr>
      </p:pic>
      <p:sp useBgFill="1"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5272745A-6D9D-7DF2-3D15-BD887C36BAF7}"/>
              </a:ext>
            </a:extLst>
          </p:cNvPr>
          <p:cNvSpPr/>
          <p:nvPr/>
        </p:nvSpPr>
        <p:spPr>
          <a:xfrm>
            <a:off x="1198881" y="1335323"/>
            <a:ext cx="4471284" cy="1649616"/>
          </a:xfrm>
          <a:prstGeom prst="roundRect">
            <a:avLst/>
          </a:prstGeom>
          <a:ln w="38100">
            <a:gradFill flip="none" rotWithShape="1">
              <a:gsLst>
                <a:gs pos="0">
                  <a:srgbClr val="191919"/>
                </a:gs>
                <a:gs pos="100000">
                  <a:srgbClr val="202020"/>
                </a:gs>
              </a:gsLst>
              <a:lin ang="16200000" scaled="1"/>
              <a:tileRect/>
            </a:gradFill>
          </a:ln>
          <a:scene3d>
            <a:camera prst="orthographicFront"/>
            <a:lightRig rig="threePt" dir="t"/>
          </a:scene3d>
          <a:sp3d>
            <a:bevelT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tabLst>
                <a:tab pos="2955925" algn="l"/>
              </a:tabLst>
            </a:pPr>
            <a:r>
              <a:rPr lang="ru-RU" sz="2800" dirty="0">
                <a:gradFill flip="none" rotWithShape="1">
                  <a:gsLst>
                    <a:gs pos="0">
                      <a:schemeClr val="accent4">
                        <a:lumMod val="40000"/>
                        <a:lumOff val="60000"/>
                      </a:schemeClr>
                    </a:gs>
                    <a:gs pos="100000">
                      <a:srgbClr val="FFFE0C"/>
                    </a:gs>
                  </a:gsLst>
                  <a:lin ang="18900000" scaled="1"/>
                  <a:tileRect/>
                </a:gradFill>
                <a:latin typeface="Arial Black" panose="020B0A04020102020204" pitchFamily="34" charset="0"/>
              </a:rPr>
              <a:t>Попытки атак и нарушения политик</a:t>
            </a:r>
            <a:endParaRPr lang="en-US" sz="2800" dirty="0">
              <a:gradFill flip="none" rotWithShape="1">
                <a:gsLst>
                  <a:gs pos="0">
                    <a:schemeClr val="accent4">
                      <a:lumMod val="40000"/>
                      <a:lumOff val="60000"/>
                    </a:schemeClr>
                  </a:gs>
                  <a:gs pos="100000">
                    <a:srgbClr val="FFFE0C"/>
                  </a:gs>
                </a:gsLst>
                <a:lin ang="18900000" scaled="1"/>
                <a:tileRect/>
              </a:gradFill>
              <a:latin typeface="Arial Black" panose="020B0A04020102020204" pitchFamily="34" charset="0"/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4610D57C-E181-2CB6-DC92-419B01E0CD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3548" y="93446"/>
            <a:ext cx="7624904" cy="727648"/>
          </a:xfrm>
          <a:scene3d>
            <a:camera prst="orthographicFront">
              <a:rot lat="0" lon="0" rev="0"/>
            </a:camera>
            <a:lightRig rig="threePt" dir="t"/>
          </a:scene3d>
          <a:sp3d z="177800"/>
        </p:spPr>
        <p:txBody>
          <a:bodyPr>
            <a:noAutofit/>
          </a:bodyPr>
          <a:lstStyle/>
          <a:p>
            <a:r>
              <a:rPr lang="ru-RU" sz="3600" dirty="0">
                <a:gradFill>
                  <a:gsLst>
                    <a:gs pos="0">
                      <a:srgbClr val="B9E901"/>
                    </a:gs>
                    <a:gs pos="100000">
                      <a:srgbClr val="92D050"/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Классификация событий</a:t>
            </a:r>
            <a:endParaRPr lang="ru-RU" dirty="0">
              <a:gradFill>
                <a:gsLst>
                  <a:gs pos="0">
                    <a:srgbClr val="B9E901"/>
                  </a:gs>
                  <a:gs pos="100000">
                    <a:srgbClr val="92D050"/>
                  </a:gs>
                </a:gsLst>
                <a:path path="circle">
                  <a:fillToRect l="50000" t="50000" r="50000" b="50000"/>
                </a:path>
              </a:gradFill>
              <a:latin typeface="Arial Black" panose="020B0A04020102020204" pitchFamily="34" charset="0"/>
            </a:endParaRP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9E2F7DF0-F458-0886-D2D7-542D6A776FD8}"/>
              </a:ext>
            </a:extLst>
          </p:cNvPr>
          <p:cNvSpPr txBox="1">
            <a:spLocks/>
          </p:cNvSpPr>
          <p:nvPr/>
        </p:nvSpPr>
        <p:spPr>
          <a:xfrm>
            <a:off x="664345" y="4191183"/>
            <a:ext cx="3378026" cy="1630219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  <a:sp3d z="177800"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1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 useBgFill="1"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81EF2CEF-8AFF-E667-2001-9E0012AB6505}"/>
              </a:ext>
            </a:extLst>
          </p:cNvPr>
          <p:cNvSpPr/>
          <p:nvPr/>
        </p:nvSpPr>
        <p:spPr>
          <a:xfrm>
            <a:off x="6521836" y="1335323"/>
            <a:ext cx="4471282" cy="1649615"/>
          </a:xfrm>
          <a:prstGeom prst="roundRect">
            <a:avLst/>
          </a:prstGeom>
          <a:ln w="38100">
            <a:gradFill flip="none" rotWithShape="1">
              <a:gsLst>
                <a:gs pos="0">
                  <a:srgbClr val="212121"/>
                </a:gs>
                <a:gs pos="100000">
                  <a:srgbClr val="202020"/>
                </a:gs>
              </a:gsLst>
              <a:lin ang="16200000" scaled="1"/>
              <a:tileRect/>
            </a:gradFill>
          </a:ln>
          <a:scene3d>
            <a:camera prst="orthographicFront"/>
            <a:lightRig rig="threePt" dir="t"/>
          </a:scene3d>
          <a:sp3d>
            <a:bevelT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tabLst>
                <a:tab pos="2955925" algn="l"/>
              </a:tabLst>
            </a:pPr>
            <a:r>
              <a:rPr lang="ru-RU" sz="2800" dirty="0">
                <a:gradFill flip="none" rotWithShape="1">
                  <a:gsLst>
                    <a:gs pos="22000">
                      <a:srgbClr val="FF0B0B"/>
                    </a:gs>
                    <a:gs pos="98000">
                      <a:srgbClr val="FBDECF"/>
                    </a:gs>
                  </a:gsLst>
                  <a:lin ang="2700000" scaled="1"/>
                  <a:tileRect/>
                </a:gradFill>
                <a:latin typeface="Arial Black" panose="020B0A04020102020204" pitchFamily="34" charset="0"/>
              </a:rPr>
              <a:t>Критические инциденты и атаки</a:t>
            </a:r>
            <a:endParaRPr lang="en-US" sz="2800" dirty="0">
              <a:gradFill flip="none" rotWithShape="1">
                <a:gsLst>
                  <a:gs pos="22000">
                    <a:srgbClr val="FF0B0B"/>
                  </a:gs>
                  <a:gs pos="98000">
                    <a:srgbClr val="FBDECF"/>
                  </a:gs>
                </a:gsLst>
                <a:lin ang="2700000" scaled="1"/>
                <a:tileRect/>
              </a:gradFill>
              <a:latin typeface="Arial Black" panose="020B0A04020102020204" pitchFamily="34" charset="0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9F96757A-8E7C-89E7-4A38-A1D24500062A}"/>
              </a:ext>
            </a:extLst>
          </p:cNvPr>
          <p:cNvSpPr/>
          <p:nvPr/>
        </p:nvSpPr>
        <p:spPr>
          <a:xfrm>
            <a:off x="1198881" y="3208079"/>
            <a:ext cx="4471282" cy="3231581"/>
          </a:xfrm>
          <a:prstGeom prst="roundRect">
            <a:avLst/>
          </a:prstGeom>
          <a:solidFill>
            <a:schemeClr val="accent4">
              <a:lumMod val="20000"/>
              <a:lumOff val="80000"/>
              <a:alpha val="10000"/>
            </a:schemeClr>
          </a:solidFill>
          <a:ln w="22225">
            <a:gradFill flip="none" rotWithShape="1">
              <a:gsLst>
                <a:gs pos="2000">
                  <a:schemeClr val="accent4">
                    <a:lumMod val="20000"/>
                    <a:lumOff val="80000"/>
                  </a:schemeClr>
                </a:gs>
                <a:gs pos="100000">
                  <a:srgbClr val="FFFF00"/>
                </a:gs>
              </a:gsLst>
              <a:lin ang="2700000" scaled="1"/>
              <a:tileRect/>
            </a:gradFill>
          </a:ln>
          <a:effectLst>
            <a:glow rad="114300">
              <a:schemeClr val="accent4">
                <a:lumMod val="20000"/>
                <a:lumOff val="80000"/>
                <a:alpha val="13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ru-RU" sz="2000" dirty="0">
                <a:solidFill>
                  <a:srgbClr val="FFF08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9: </a:t>
            </a:r>
            <a:r>
              <a:rPr lang="ru-RU" sz="2000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Ошибки от неизвестных источников </a:t>
            </a:r>
          </a:p>
          <a:p>
            <a:pPr>
              <a:spcAft>
                <a:spcPts val="600"/>
              </a:spcAft>
            </a:pPr>
            <a:r>
              <a:rPr lang="ru-RU" sz="2000" dirty="0">
                <a:solidFill>
                  <a:srgbClr val="FFF08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10: </a:t>
            </a:r>
            <a:r>
              <a:rPr lang="ru-RU" sz="2000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Множественные ошибки (</a:t>
            </a:r>
            <a:r>
              <a:rPr lang="ru-RU" sz="2000" dirty="0" err="1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брутфорс</a:t>
            </a:r>
            <a:r>
              <a:rPr lang="ru-RU" sz="2000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>
              <a:spcAft>
                <a:spcPts val="600"/>
              </a:spcAft>
            </a:pPr>
            <a:r>
              <a:rPr lang="ru-RU" sz="2000" dirty="0">
                <a:solidFill>
                  <a:srgbClr val="FFF08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11: </a:t>
            </a:r>
            <a:r>
              <a:rPr lang="ru-RU" sz="2000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Предупреждения целостности (файлы системы изменены)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44609537-D1FD-94BA-90BA-C448981FAB41}"/>
              </a:ext>
            </a:extLst>
          </p:cNvPr>
          <p:cNvSpPr/>
          <p:nvPr/>
        </p:nvSpPr>
        <p:spPr>
          <a:xfrm>
            <a:off x="6521836" y="3208079"/>
            <a:ext cx="4471282" cy="3231581"/>
          </a:xfrm>
          <a:prstGeom prst="roundRect">
            <a:avLst/>
          </a:prstGeom>
          <a:solidFill>
            <a:srgbClr val="FCA499">
              <a:alpha val="10000"/>
            </a:srgbClr>
          </a:solidFill>
          <a:ln w="22225">
            <a:gradFill flip="none" rotWithShape="1">
              <a:gsLst>
                <a:gs pos="2000">
                  <a:schemeClr val="accent2">
                    <a:lumMod val="20000"/>
                    <a:lumOff val="80000"/>
                  </a:schemeClr>
                </a:gs>
                <a:gs pos="100000">
                  <a:srgbClr val="FF0000"/>
                </a:gs>
              </a:gsLst>
              <a:lin ang="2700000" scaled="1"/>
              <a:tileRect/>
            </a:gradFill>
          </a:ln>
          <a:effectLst>
            <a:glow rad="114300">
              <a:schemeClr val="accent2">
                <a:lumMod val="20000"/>
                <a:lumOff val="80000"/>
                <a:alpha val="13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ru-RU" sz="2000" dirty="0">
                <a:solidFill>
                  <a:srgbClr val="FCA4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12: </a:t>
            </a:r>
            <a:r>
              <a:rPr lang="ru-RU" sz="2000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Серьезные ошибки ядра или приложений</a:t>
            </a:r>
          </a:p>
          <a:p>
            <a:pPr>
              <a:spcAft>
                <a:spcPts val="600"/>
              </a:spcAft>
            </a:pPr>
            <a:r>
              <a:rPr lang="ru-RU" sz="2000" dirty="0">
                <a:solidFill>
                  <a:srgbClr val="FCA4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13: </a:t>
            </a:r>
            <a:r>
              <a:rPr lang="ru-RU" sz="2000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Известные паттерны атак (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Wazuh </a:t>
            </a:r>
            <a:r>
              <a:rPr lang="ru-RU" sz="2000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определил сигнатуру)</a:t>
            </a:r>
          </a:p>
          <a:p>
            <a:pPr>
              <a:spcAft>
                <a:spcPts val="600"/>
              </a:spcAft>
            </a:pPr>
            <a:r>
              <a:rPr lang="ru-RU" sz="2000" dirty="0">
                <a:solidFill>
                  <a:srgbClr val="FCA4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14: </a:t>
            </a:r>
            <a:r>
              <a:rPr lang="ru-RU" sz="2000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Коррелированные события (цепочка правил подтверждающая атаку)</a:t>
            </a:r>
          </a:p>
          <a:p>
            <a:pPr>
              <a:spcAft>
                <a:spcPts val="600"/>
              </a:spcAft>
            </a:pPr>
            <a:r>
              <a:rPr lang="ru-RU" sz="2000" dirty="0">
                <a:solidFill>
                  <a:srgbClr val="FCA4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15 – 16: </a:t>
            </a:r>
            <a:r>
              <a:rPr lang="ru-RU" sz="2000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Прямая и явная угроза </a:t>
            </a:r>
          </a:p>
        </p:txBody>
      </p:sp>
    </p:spTree>
    <p:extLst>
      <p:ext uri="{BB962C8B-B14F-4D97-AF65-F5344CB8AC3E}">
        <p14:creationId xmlns:p14="http://schemas.microsoft.com/office/powerpoint/2010/main" val="1737079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BD5DC-1945-15EF-2E1C-A0DD259F6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B165F73-9692-9E40-E582-8729CB2C7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265572" cy="69776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 useBgFill="1">
            <p:nvSpPr>
              <p:cNvPr id="2" name="Прямоугольник: скругленные углы 1">
                <a:extLst>
                  <a:ext uri="{FF2B5EF4-FFF2-40B4-BE49-F238E27FC236}">
                    <a16:creationId xmlns:a16="http://schemas.microsoft.com/office/drawing/2014/main" id="{AFA8D937-CF88-3AFA-80FE-3D01709EC2F6}"/>
                  </a:ext>
                </a:extLst>
              </p:cNvPr>
              <p:cNvSpPr/>
              <p:nvPr/>
            </p:nvSpPr>
            <p:spPr>
              <a:xfrm>
                <a:off x="2225477" y="1507224"/>
                <a:ext cx="7741044" cy="1921776"/>
              </a:xfrm>
              <a:prstGeom prst="roundRect">
                <a:avLst/>
              </a:prstGeom>
              <a:ln w="38100">
                <a:gradFill flip="none" rotWithShape="1">
                  <a:gsLst>
                    <a:gs pos="0">
                      <a:srgbClr val="212121"/>
                    </a:gs>
                    <a:gs pos="100000">
                      <a:srgbClr val="202020"/>
                    </a:gs>
                  </a:gsLst>
                  <a:lin ang="16200000" scaled="1"/>
                  <a:tileRect/>
                </a:gradFill>
              </a:ln>
              <a:effectLst>
                <a:glow rad="304800">
                  <a:schemeClr val="bg1">
                    <a:alpha val="5000"/>
                  </a:schemeClr>
                </a:glow>
              </a:effectLst>
              <a:scene3d>
                <a:camera prst="orthographicFront"/>
                <a:lightRig rig="threePt" dir="t"/>
              </a:scene3d>
              <a:sp3d>
                <a:bevelT h="1270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tabLst>
                    <a:tab pos="2955925" algn="l"/>
                  </a:tabLst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ru-RU" sz="3200" b="1" i="1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  <m:sup>
                          <m:r>
                            <a:rPr lang="ru-RU" sz="3200" b="1" i="1">
                              <a:latin typeface="Cambria Math" panose="02040503050406030204" pitchFamily="18" charset="0"/>
                            </a:rPr>
                            <m:t>𝒃𝒂𝒔𝒆</m:t>
                          </m:r>
                        </m:sup>
                      </m:sSubSup>
                      <m:r>
                        <a:rPr lang="ru-RU" sz="3200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3200" b="1" i="1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ru-RU" sz="3200" b="1" i="1">
                          <a:latin typeface="Cambria Math" panose="02040503050406030204" pitchFamily="18" charset="0"/>
                        </a:rPr>
                        <m:t>×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sz="32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sz="32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ru-RU" sz="32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ru-RU" sz="32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ru-RU" sz="32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  <m:e>
                          <m:sSub>
                            <m:sSubPr>
                              <m:ctrlPr>
                                <a:rPr lang="ru-RU" sz="3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3200" b="1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ru-RU" sz="32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ru-RU" sz="32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  <m:r>
                        <a:rPr lang="ru-RU" sz="3200" b="1" i="1">
                          <a:latin typeface="Cambria Math" panose="02040503050406030204" pitchFamily="18" charset="0"/>
                        </a:rPr>
                        <m:t>×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ru-RU" sz="32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ru-RU" sz="32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sSub>
                            <m:sSubPr>
                              <m:ctrlPr>
                                <a:rPr lang="ru-RU" sz="3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3200" b="1" i="1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ru-RU" sz="32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ru-RU" sz="3200" b="1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ru-RU" sz="3200" b="1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sup>
                        <m:e>
                          <m:sSup>
                            <m:sSupPr>
                              <m:ctrlPr>
                                <a:rPr lang="ru-RU" sz="32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3200" b="1" i="1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ru-RU" sz="32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sz="3200" b="1" i="1">
                                  <a:latin typeface="Cambria Math" panose="02040503050406030204" pitchFamily="18" charset="0"/>
                                </a:rPr>
                                <m:t>𝝀</m:t>
                              </m:r>
                              <m:r>
                                <a:rPr lang="ru-RU" sz="3200" b="1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ru-RU" sz="3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3200" b="1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  <m:sub>
                                  <m:r>
                                    <a:rPr lang="ru-RU" sz="3200" b="1" i="1">
                                      <a:latin typeface="Cambria Math" panose="02040503050406030204" pitchFamily="18" charset="0"/>
                                    </a:rPr>
                                    <m:t>𝒏𝒐𝒘</m:t>
                                  </m:r>
                                </m:sub>
                              </m:sSub>
                              <m:r>
                                <a:rPr lang="ru-RU" sz="32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sz="3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3200" b="1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  <m:sub>
                                  <m:r>
                                    <a:rPr lang="ru-RU" sz="3200" b="1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sub>
                              </m:sSub>
                              <m:r>
                                <a:rPr lang="ru-RU" sz="3200" b="1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  <m:r>
                        <a:rPr lang="ru-RU" sz="32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400" b="1" dirty="0">
                  <a:solidFill>
                    <a:schemeClr val="bg1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 useBgFill="1">
            <p:nvSpPr>
              <p:cNvPr id="2" name="Прямоугольник: скругленные углы 1">
                <a:extLst>
                  <a:ext uri="{FF2B5EF4-FFF2-40B4-BE49-F238E27FC236}">
                    <a16:creationId xmlns:a16="http://schemas.microsoft.com/office/drawing/2014/main" id="{AFA8D937-CF88-3AFA-80FE-3D01709EC2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477" y="1507224"/>
                <a:ext cx="7741044" cy="1921776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gradFill flip="none" rotWithShape="1">
                  <a:gsLst>
                    <a:gs pos="0">
                      <a:srgbClr val="212121"/>
                    </a:gs>
                    <a:gs pos="100000">
                      <a:srgbClr val="202020"/>
                    </a:gs>
                  </a:gsLst>
                  <a:lin ang="16200000" scaled="1"/>
                  <a:tileRect/>
                </a:gradFill>
              </a:ln>
              <a:effectLst>
                <a:glow rad="304800">
                  <a:schemeClr val="bg1">
                    <a:alpha val="5000"/>
                  </a:schemeClr>
                </a:glow>
              </a:effec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CA3BAB4E-626E-997A-158F-E0E2F14335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9747" y="0"/>
            <a:ext cx="10012504" cy="1030153"/>
          </a:xfrm>
          <a:scene3d>
            <a:camera prst="orthographicFront">
              <a:rot lat="0" lon="0" rev="0"/>
            </a:camera>
            <a:lightRig rig="threePt" dir="t"/>
          </a:scene3d>
          <a:sp3d z="177800"/>
        </p:spPr>
        <p:txBody>
          <a:bodyPr>
            <a:normAutofit/>
          </a:bodyPr>
          <a:lstStyle/>
          <a:p>
            <a:r>
              <a:rPr lang="ru-RU" sz="4400" dirty="0">
                <a:gradFill>
                  <a:gsLst>
                    <a:gs pos="0">
                      <a:srgbClr val="B9E901"/>
                    </a:gs>
                    <a:gs pos="100000">
                      <a:srgbClr val="92D050"/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Формула рейтингования</a:t>
            </a:r>
            <a:endParaRPr lang="ru-RU" sz="6600" dirty="0">
              <a:gradFill>
                <a:gsLst>
                  <a:gs pos="0">
                    <a:srgbClr val="B9E901"/>
                  </a:gs>
                  <a:gs pos="100000">
                    <a:srgbClr val="92D050"/>
                  </a:gs>
                </a:gsLst>
                <a:path path="circle">
                  <a:fillToRect l="50000" t="50000" r="50000" b="50000"/>
                </a:path>
              </a:gradFill>
              <a:latin typeface="Arial Black" panose="020B0A040201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Заголовок 1">
                <a:extLst>
                  <a:ext uri="{FF2B5EF4-FFF2-40B4-BE49-F238E27FC236}">
                    <a16:creationId xmlns:a16="http://schemas.microsoft.com/office/drawing/2014/main" id="{0E63FF3F-382F-A8B5-7A9D-494BC5A5A08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4746" y="3766392"/>
                <a:ext cx="10538374" cy="2702560"/>
              </a:xfrm>
              <a:prstGeom prst="rect">
                <a:avLst/>
              </a:prstGeom>
              <a:scene3d>
                <a:camera prst="orthographicFront">
                  <a:rot lat="0" lon="0" rev="0"/>
                </a:camera>
                <a:lightRig rig="threePt" dir="t"/>
              </a:scene3d>
              <a:sp3d z="177800"/>
            </p:spPr>
            <p:txBody>
              <a:bodyPr vert="horz" lIns="91440" tIns="45720" rIns="91440" bIns="45720" rtlCol="0" anchor="b">
                <a:normAutofit/>
              </a:bodyPr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60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>
                  <a:spcAft>
                    <a:spcPts val="600"/>
                  </a:spcAft>
                </a:pPr>
                <a:r>
                  <a:rPr lang="en-US" sz="1800" dirty="0" err="1">
                    <a:solidFill>
                      <a:srgbClr val="92D05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</a:t>
                </a:r>
                <a:r>
                  <a:rPr lang="en-US" sz="1400" dirty="0" err="1">
                    <a:solidFill>
                      <a:srgbClr val="92D05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j</a:t>
                </a:r>
                <a:r>
                  <a:rPr lang="en-US" sz="1800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1800" dirty="0">
                    <a:solidFill>
                      <a:schemeClr val="bg1">
                        <a:lumMod val="9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– </a:t>
                </a:r>
                <a:r>
                  <a:rPr lang="ru-RU" sz="1800" dirty="0">
                    <a:solidFill>
                      <a:schemeClr val="bg1">
                        <a:lumMod val="9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итоговый риск-показатель подрядчика </a:t>
                </a:r>
                <a:r>
                  <a:rPr lang="en-US" sz="1800" dirty="0">
                    <a:solidFill>
                      <a:schemeClr val="bg1">
                        <a:lumMod val="9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j;</a:t>
                </a:r>
              </a:p>
              <a:p>
                <a:pPr algn="l">
                  <a:spcAft>
                    <a:spcPts val="600"/>
                  </a:spcAft>
                </a:pPr>
                <a:r>
                  <a:rPr lang="en-US" sz="1800" dirty="0" err="1">
                    <a:solidFill>
                      <a:srgbClr val="92D05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</a:t>
                </a:r>
                <a:r>
                  <a:rPr lang="en-US" sz="1400" dirty="0" err="1">
                    <a:solidFill>
                      <a:srgbClr val="92D05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j</a:t>
                </a:r>
                <a:r>
                  <a:rPr lang="en-US" sz="1800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1800" dirty="0">
                    <a:solidFill>
                      <a:schemeClr val="bg1">
                        <a:lumMod val="9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– </a:t>
                </a:r>
                <a:r>
                  <a:rPr lang="ru-RU" sz="1800" dirty="0">
                    <a:solidFill>
                      <a:schemeClr val="bg1">
                        <a:lumMod val="9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коэффициент, отражающий критичность сегмента доступа;</a:t>
                </a:r>
              </a:p>
              <a:p>
                <a:pPr algn="l">
                  <a:spcAft>
                    <a:spcPts val="600"/>
                  </a:spcAft>
                </a:pPr>
                <a:r>
                  <a:rPr lang="en-US" sz="1800" dirty="0" err="1">
                    <a:solidFill>
                      <a:srgbClr val="92D05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</a:t>
                </a:r>
                <a:r>
                  <a:rPr lang="en-US" sz="1400" dirty="0" err="1">
                    <a:solidFill>
                      <a:srgbClr val="92D05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i,j</a:t>
                </a:r>
                <a:r>
                  <a:rPr lang="en-US" sz="1400" dirty="0">
                    <a:solidFill>
                      <a:schemeClr val="bg1">
                        <a:lumMod val="9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1800" dirty="0">
                    <a:solidFill>
                      <a:schemeClr val="bg1">
                        <a:lumMod val="9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– </a:t>
                </a:r>
                <a:r>
                  <a:rPr lang="ru-RU" sz="1800" dirty="0">
                    <a:solidFill>
                      <a:schemeClr val="bg1">
                        <a:lumMod val="9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количество инцидентов класса </a:t>
                </a:r>
                <a:r>
                  <a:rPr lang="en-US" sz="1800" dirty="0" err="1">
                    <a:solidFill>
                      <a:schemeClr val="bg1">
                        <a:lumMod val="9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i</a:t>
                </a:r>
                <a:r>
                  <a:rPr lang="en-US" sz="1800" dirty="0">
                    <a:solidFill>
                      <a:schemeClr val="bg1">
                        <a:lumMod val="9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ru-RU" sz="1800" dirty="0">
                    <a:solidFill>
                      <a:schemeClr val="bg1">
                        <a:lumMod val="9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связанных с подрядчиком </a:t>
                </a:r>
                <a:r>
                  <a:rPr lang="en-US" sz="1800" dirty="0">
                    <a:solidFill>
                      <a:schemeClr val="bg1">
                        <a:lumMod val="9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j </a:t>
                </a:r>
                <a:r>
                  <a:rPr lang="ru-RU" sz="1800" dirty="0">
                    <a:solidFill>
                      <a:schemeClr val="bg1">
                        <a:lumMod val="9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за анализируемый период;</a:t>
                </a:r>
              </a:p>
              <a:p>
                <a:pPr algn="l">
                  <a:spcAft>
                    <a:spcPts val="600"/>
                  </a:spcAft>
                </a:pPr>
                <a:r>
                  <a:rPr lang="en-US" sz="1800" dirty="0">
                    <a:solidFill>
                      <a:srgbClr val="92D05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W</a:t>
                </a:r>
                <a:r>
                  <a:rPr lang="en-US" sz="1400" dirty="0">
                    <a:solidFill>
                      <a:srgbClr val="92D05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i</a:t>
                </a:r>
                <a:r>
                  <a:rPr lang="en-US" sz="1800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1800" dirty="0">
                    <a:solidFill>
                      <a:schemeClr val="bg1">
                        <a:lumMod val="9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– </a:t>
                </a:r>
                <a:r>
                  <a:rPr lang="ru-RU" sz="1800" dirty="0">
                    <a:solidFill>
                      <a:schemeClr val="bg1">
                        <a:lumMod val="9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весовой коэффициент критичности инцидента класса </a:t>
                </a:r>
                <a:r>
                  <a:rPr lang="en-US" sz="1800" dirty="0" err="1">
                    <a:solidFill>
                      <a:schemeClr val="bg1">
                        <a:lumMod val="9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i</a:t>
                </a:r>
                <a:r>
                  <a:rPr lang="en-US" sz="1800" dirty="0">
                    <a:solidFill>
                      <a:schemeClr val="bg1">
                        <a:lumMod val="9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</a:t>
                </a:r>
              </a:p>
              <a:p>
                <a:pPr algn="l">
                  <a:spcAft>
                    <a:spcPts val="600"/>
                  </a:spcAft>
                </a:pPr>
                <a:r>
                  <a:rPr lang="en-US" sz="1800" dirty="0" err="1">
                    <a:solidFill>
                      <a:srgbClr val="92D05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</a:t>
                </a:r>
                <a:r>
                  <a:rPr lang="en-US" sz="1400" dirty="0" err="1">
                    <a:solidFill>
                      <a:srgbClr val="92D05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now</a:t>
                </a:r>
                <a:r>
                  <a:rPr lang="en-US" sz="1800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1800" dirty="0">
                    <a:solidFill>
                      <a:schemeClr val="bg1">
                        <a:lumMod val="9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– </a:t>
                </a:r>
                <a:r>
                  <a:rPr lang="ru-RU" sz="1800" dirty="0">
                    <a:solidFill>
                      <a:schemeClr val="bg1">
                        <a:lumMod val="9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текущее время;</a:t>
                </a:r>
              </a:p>
              <a:p>
                <a:pPr algn="l">
                  <a:spcAft>
                    <a:spcPts val="600"/>
                  </a:spcAft>
                </a:pPr>
                <a:r>
                  <a:rPr lang="en-US" sz="1800" dirty="0" err="1">
                    <a:solidFill>
                      <a:srgbClr val="92D05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</a:t>
                </a:r>
                <a:r>
                  <a:rPr lang="en-US" sz="1400" dirty="0" err="1">
                    <a:solidFill>
                      <a:srgbClr val="92D05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</a:t>
                </a:r>
                <a:r>
                  <a:rPr lang="en-US" sz="1800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1800" dirty="0">
                    <a:solidFill>
                      <a:schemeClr val="bg1">
                        <a:lumMod val="9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– </a:t>
                </a:r>
                <a:r>
                  <a:rPr lang="ru-RU" sz="1800" dirty="0">
                    <a:solidFill>
                      <a:schemeClr val="bg1">
                        <a:lumMod val="9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время фиксации инцидента </a:t>
                </a:r>
                <a:r>
                  <a:rPr lang="en-US" sz="1800" dirty="0">
                    <a:solidFill>
                      <a:schemeClr val="bg1">
                        <a:lumMod val="9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k;</a:t>
                </a:r>
              </a:p>
              <a:p>
                <a:pPr algn="l">
                  <a:spcAft>
                    <a:spcPts val="600"/>
                  </a:spcAft>
                </a:pPr>
                <a:r>
                  <a:rPr lang="en-US" sz="1800" dirty="0">
                    <a:solidFill>
                      <a:srgbClr val="92D05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(</a:t>
                </a:r>
                <a:r>
                  <a:rPr lang="en-US" sz="1800" dirty="0" err="1">
                    <a:solidFill>
                      <a:srgbClr val="92D05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</a:t>
                </a:r>
                <a:r>
                  <a:rPr lang="en-US" sz="1400" dirty="0" err="1">
                    <a:solidFill>
                      <a:srgbClr val="92D05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now</a:t>
                </a:r>
                <a:r>
                  <a:rPr lang="ru-RU" sz="1400" dirty="0">
                    <a:solidFill>
                      <a:srgbClr val="92D05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1800" dirty="0">
                    <a:solidFill>
                      <a:srgbClr val="92D05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-</a:t>
                </a:r>
                <a:r>
                  <a:rPr lang="ru-RU" sz="1800" dirty="0">
                    <a:solidFill>
                      <a:srgbClr val="92D05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1800" dirty="0" err="1">
                    <a:solidFill>
                      <a:srgbClr val="92D05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</a:t>
                </a:r>
                <a:r>
                  <a:rPr lang="en-US" sz="1400" dirty="0" err="1">
                    <a:solidFill>
                      <a:srgbClr val="92D05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</a:t>
                </a:r>
                <a:r>
                  <a:rPr lang="en-US" sz="1800" dirty="0">
                    <a:solidFill>
                      <a:srgbClr val="92D05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 </a:t>
                </a:r>
                <a:r>
                  <a:rPr lang="en-US" sz="1800" dirty="0">
                    <a:solidFill>
                      <a:schemeClr val="bg1">
                        <a:lumMod val="9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– </a:t>
                </a:r>
                <a:r>
                  <a:rPr lang="ru-RU" sz="1800" dirty="0">
                    <a:solidFill>
                      <a:schemeClr val="bg1">
                        <a:lumMod val="9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возраст инцидента;</a:t>
                </a:r>
              </a:p>
              <a:p>
                <a:pPr algn="l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ru-RU" sz="1800" b="1" i="0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𝛌</m:t>
                    </m:r>
                  </m:oMath>
                </a14:m>
                <a:r>
                  <a:rPr lang="ru-RU" sz="1800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ru-RU" sz="1800" dirty="0">
                    <a:solidFill>
                      <a:schemeClr val="bg1">
                        <a:lumMod val="9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– коэффициент затухания</a:t>
                </a:r>
              </a:p>
            </p:txBody>
          </p:sp>
        </mc:Choice>
        <mc:Fallback xmlns="">
          <p:sp>
            <p:nvSpPr>
              <p:cNvPr id="7" name="Заголовок 1">
                <a:extLst>
                  <a:ext uri="{FF2B5EF4-FFF2-40B4-BE49-F238E27FC236}">
                    <a16:creationId xmlns:a16="http://schemas.microsoft.com/office/drawing/2014/main" id="{0E63FF3F-382F-A8B5-7A9D-494BC5A5A0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746" y="3766392"/>
                <a:ext cx="10538374" cy="2702560"/>
              </a:xfrm>
              <a:prstGeom prst="rect">
                <a:avLst/>
              </a:prstGeom>
              <a:blipFill>
                <a:blip r:embed="rId5"/>
                <a:stretch>
                  <a:fillRect l="-346" b="-289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7060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DAE40-42AF-ECAA-AC42-730FE14F7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6AA9FB3-4550-A0BF-BA91-87146A289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265572" cy="6977636"/>
          </a:xfrm>
          <a:prstGeom prst="rect">
            <a:avLst/>
          </a:prstGeom>
        </p:spPr>
      </p:pic>
      <p:sp useBgFill="1"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F6028A4E-8E9A-C2CE-35C3-43757E91E0E0}"/>
              </a:ext>
            </a:extLst>
          </p:cNvPr>
          <p:cNvSpPr/>
          <p:nvPr/>
        </p:nvSpPr>
        <p:spPr>
          <a:xfrm>
            <a:off x="257945" y="4001485"/>
            <a:ext cx="11629255" cy="1789139"/>
          </a:xfrm>
          <a:prstGeom prst="roundRect">
            <a:avLst/>
          </a:prstGeom>
          <a:ln w="38100">
            <a:gradFill flip="none" rotWithShape="1">
              <a:gsLst>
                <a:gs pos="0">
                  <a:srgbClr val="212121"/>
                </a:gs>
                <a:gs pos="100000">
                  <a:srgbClr val="202020"/>
                </a:gs>
              </a:gsLst>
              <a:lin ang="16200000" scaled="1"/>
              <a:tileRect/>
            </a:gradFill>
          </a:ln>
          <a:scene3d>
            <a:camera prst="orthographicFront"/>
            <a:lightRig rig="threePt" dir="t"/>
          </a:scene3d>
          <a:sp3d>
            <a:bevelT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tabLst>
                <a:tab pos="2955925" algn="l"/>
              </a:tabLst>
            </a:pPr>
            <a:endParaRPr lang="ru-RU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 useBgFill="1"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6C8C03AE-A42C-5E97-661F-96C5A713B13A}"/>
              </a:ext>
            </a:extLst>
          </p:cNvPr>
          <p:cNvSpPr/>
          <p:nvPr/>
        </p:nvSpPr>
        <p:spPr>
          <a:xfrm>
            <a:off x="257945" y="1848141"/>
            <a:ext cx="11629255" cy="1789139"/>
          </a:xfrm>
          <a:prstGeom prst="roundRect">
            <a:avLst/>
          </a:prstGeom>
          <a:ln w="38100">
            <a:gradFill flip="none" rotWithShape="1">
              <a:gsLst>
                <a:gs pos="0">
                  <a:srgbClr val="212121"/>
                </a:gs>
                <a:gs pos="100000">
                  <a:srgbClr val="202020"/>
                </a:gs>
              </a:gsLst>
              <a:lin ang="16200000" scaled="1"/>
              <a:tileRect/>
            </a:gradFill>
          </a:ln>
          <a:scene3d>
            <a:camera prst="orthographicFront"/>
            <a:lightRig rig="threePt" dir="t"/>
          </a:scene3d>
          <a:sp3d>
            <a:bevelT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tabLst>
                <a:tab pos="2955925" algn="l"/>
              </a:tabLst>
            </a:pPr>
            <a:endParaRPr lang="ru-RU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FDB005EC-CF76-C18B-32B7-2B68860C26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0480" y="457200"/>
            <a:ext cx="8204024" cy="731520"/>
          </a:xfrm>
          <a:scene3d>
            <a:camera prst="orthographicFront">
              <a:rot lat="0" lon="0" rev="0"/>
            </a:camera>
            <a:lightRig rig="threePt" dir="t"/>
          </a:scene3d>
          <a:sp3d z="177800"/>
        </p:spPr>
        <p:txBody>
          <a:bodyPr>
            <a:noAutofit/>
          </a:bodyPr>
          <a:lstStyle/>
          <a:p>
            <a:pPr algn="r"/>
            <a:r>
              <a:rPr lang="ru-RU" sz="3600" dirty="0">
                <a:gradFill>
                  <a:gsLst>
                    <a:gs pos="0">
                      <a:srgbClr val="B9E901"/>
                    </a:gs>
                    <a:gs pos="100000">
                      <a:srgbClr val="92D050"/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База данных с рейтингом подрядчиков</a:t>
            </a:r>
            <a:endParaRPr lang="ru-RU" dirty="0">
              <a:gradFill>
                <a:gsLst>
                  <a:gs pos="0">
                    <a:srgbClr val="B9E901"/>
                  </a:gs>
                  <a:gs pos="100000">
                    <a:srgbClr val="92D050"/>
                  </a:gs>
                </a:gsLst>
                <a:path path="circle">
                  <a:fillToRect l="50000" t="50000" r="50000" b="50000"/>
                </a:path>
              </a:gradFill>
              <a:latin typeface="Arial Black" panose="020B0A040201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096AE32-39E5-B957-06F4-1A1B65DE1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018" y="2050341"/>
            <a:ext cx="11383964" cy="1438476"/>
          </a:xfrm>
          <a:prstGeom prst="rect">
            <a:avLst/>
          </a:prstGeom>
          <a:effectLst>
            <a:softEdge rad="0"/>
          </a:effec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BC079FB-B2D1-6F76-A442-FB0BF1BC1A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018" y="4148238"/>
            <a:ext cx="11345858" cy="1495634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8A8F6A7B-E3F4-DB6C-7E1F-43ACFDD3D959}"/>
              </a:ext>
            </a:extLst>
          </p:cNvPr>
          <p:cNvSpPr/>
          <p:nvPr/>
        </p:nvSpPr>
        <p:spPr>
          <a:xfrm>
            <a:off x="4267199" y="2102836"/>
            <a:ext cx="2306321" cy="1071880"/>
          </a:xfrm>
          <a:prstGeom prst="roundRect">
            <a:avLst/>
          </a:prstGeom>
          <a:solidFill>
            <a:schemeClr val="accent1">
              <a:alpha val="0"/>
            </a:schemeClr>
          </a:solidFill>
          <a:ln w="50800">
            <a:gradFill flip="none" rotWithShape="1">
              <a:gsLst>
                <a:gs pos="2000">
                  <a:srgbClr val="B9E901"/>
                </a:gs>
                <a:gs pos="100000">
                  <a:srgbClr val="83D34A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78416344-2E1F-4433-592B-248DC26CAB3D}"/>
              </a:ext>
            </a:extLst>
          </p:cNvPr>
          <p:cNvSpPr/>
          <p:nvPr/>
        </p:nvSpPr>
        <p:spPr>
          <a:xfrm>
            <a:off x="4267198" y="4243062"/>
            <a:ext cx="2306321" cy="1071880"/>
          </a:xfrm>
          <a:prstGeom prst="roundRect">
            <a:avLst/>
          </a:prstGeom>
          <a:solidFill>
            <a:schemeClr val="accent1">
              <a:alpha val="0"/>
            </a:schemeClr>
          </a:solidFill>
          <a:ln w="50800">
            <a:gradFill flip="none" rotWithShape="1">
              <a:gsLst>
                <a:gs pos="2000">
                  <a:srgbClr val="B9E901"/>
                </a:gs>
                <a:gs pos="100000">
                  <a:srgbClr val="83D34A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0997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85AA0-78F7-A6C9-963C-D65DAD41D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F6AAB9F-717F-A611-EECD-82B26BEAB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265572" cy="6977636"/>
          </a:xfrm>
          <a:prstGeom prst="rect">
            <a:avLst/>
          </a:prstGeom>
        </p:spPr>
      </p:pic>
      <p:sp useBgFill="1"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AAA9BDEA-BFCB-5BB6-6F47-E0B99C873002}"/>
              </a:ext>
            </a:extLst>
          </p:cNvPr>
          <p:cNvSpPr/>
          <p:nvPr/>
        </p:nvSpPr>
        <p:spPr>
          <a:xfrm>
            <a:off x="327941" y="729403"/>
            <a:ext cx="5359773" cy="5752420"/>
          </a:xfrm>
          <a:prstGeom prst="roundRect">
            <a:avLst>
              <a:gd name="adj" fmla="val 9085"/>
            </a:avLst>
          </a:prstGeom>
          <a:ln w="38100">
            <a:gradFill flip="none" rotWithShape="1">
              <a:gsLst>
                <a:gs pos="0">
                  <a:srgbClr val="212121"/>
                </a:gs>
                <a:gs pos="100000">
                  <a:srgbClr val="202020"/>
                </a:gs>
              </a:gsLst>
              <a:lin ang="16200000" scaled="1"/>
              <a:tileRect/>
            </a:gradFill>
          </a:ln>
          <a:scene3d>
            <a:camera prst="orthographicFront"/>
            <a:lightRig rig="threePt" dir="t"/>
          </a:scene3d>
          <a:sp3d>
            <a:bevelT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200"/>
              </a:spcAft>
              <a:tabLst>
                <a:tab pos="2955925" algn="l"/>
              </a:tabLst>
            </a:pPr>
            <a:r>
              <a:rPr lang="en-US" sz="2000" dirty="0">
                <a:gradFill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nmap: </a:t>
            </a:r>
            <a:r>
              <a:rPr lang="ru-RU" sz="2000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сканирование портов, сетевая разведка</a:t>
            </a:r>
            <a:endParaRPr lang="en-US" sz="2000" dirty="0">
              <a:gradFill>
                <a:gsLst>
                  <a:gs pos="0">
                    <a:srgbClr val="B9E901"/>
                  </a:gs>
                  <a:gs pos="100000">
                    <a:srgbClr val="92D050"/>
                  </a:gs>
                </a:gsLst>
                <a:path path="circle">
                  <a:fillToRect l="50000" t="50000" r="50000" b="50000"/>
                </a:path>
              </a:gra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Aft>
                <a:spcPts val="1200"/>
              </a:spcAft>
              <a:tabLst>
                <a:tab pos="2955925" algn="l"/>
              </a:tabLst>
            </a:pPr>
            <a:r>
              <a:rPr lang="en-US" sz="2000" dirty="0">
                <a:gradFill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hping3:</a:t>
            </a:r>
            <a:r>
              <a:rPr lang="ru-RU" sz="2000" dirty="0">
                <a:gradFill>
                  <a:gsLst>
                    <a:gs pos="0">
                      <a:srgbClr val="B9E901"/>
                    </a:gs>
                    <a:gs pos="100000">
                      <a:srgbClr val="92D050"/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 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SYN</a:t>
            </a:r>
            <a:r>
              <a:rPr lang="ru-RU" sz="2000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-флуд с целью 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DoS</a:t>
            </a:r>
            <a:r>
              <a:rPr lang="ru-RU" sz="2000" dirty="0">
                <a:gradFill>
                  <a:gsLst>
                    <a:gs pos="0">
                      <a:srgbClr val="B9E901"/>
                    </a:gs>
                    <a:gs pos="100000">
                      <a:srgbClr val="92D050"/>
                    </a:gs>
                  </a:gsLst>
                  <a:path path="circle">
                    <a:fillToRect l="50000" t="50000" r="50000" b="50000"/>
                  </a:path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US" sz="2000" dirty="0">
              <a:gradFill>
                <a:gsLst>
                  <a:gs pos="0">
                    <a:srgbClr val="B9E901"/>
                  </a:gs>
                  <a:gs pos="100000">
                    <a:srgbClr val="92D050"/>
                  </a:gs>
                </a:gsLst>
                <a:path path="circle">
                  <a:fillToRect l="50000" t="50000" r="50000" b="50000"/>
                </a:path>
              </a:gra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Aft>
                <a:spcPts val="1200"/>
              </a:spcAft>
              <a:tabLst>
                <a:tab pos="2955925" algn="l"/>
              </a:tabLst>
            </a:pPr>
            <a:r>
              <a:rPr lang="en-US" sz="2000" dirty="0">
                <a:gradFill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curl:</a:t>
            </a:r>
            <a:r>
              <a:rPr lang="ru-RU" sz="2000" dirty="0">
                <a:gradFill>
                  <a:gsLst>
                    <a:gs pos="0">
                      <a:srgbClr val="B9E901"/>
                    </a:gs>
                    <a:gs pos="100000">
                      <a:srgbClr val="92D050"/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 </a:t>
            </a:r>
            <a:r>
              <a:rPr lang="ru-RU" sz="2000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проверка функционирования бэкенда</a:t>
            </a:r>
            <a:endParaRPr lang="en-US" sz="2000" dirty="0">
              <a:gradFill>
                <a:gsLst>
                  <a:gs pos="0">
                    <a:srgbClr val="B9E901"/>
                  </a:gs>
                  <a:gs pos="100000">
                    <a:srgbClr val="92D050"/>
                  </a:gs>
                </a:gsLst>
                <a:path path="circle">
                  <a:fillToRect l="50000" t="50000" r="50000" b="50000"/>
                </a:path>
              </a:gra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Aft>
                <a:spcPts val="1200"/>
              </a:spcAft>
              <a:tabLst>
                <a:tab pos="2955925" algn="l"/>
              </a:tabLst>
            </a:pPr>
            <a:r>
              <a:rPr lang="en-US" sz="2000" dirty="0">
                <a:gradFill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ffuf:</a:t>
            </a:r>
            <a:r>
              <a:rPr lang="ru-RU" sz="2000" dirty="0">
                <a:gradFill>
                  <a:gsLst>
                    <a:gs pos="0">
                      <a:srgbClr val="B9E901"/>
                    </a:gs>
                    <a:gs pos="100000">
                      <a:srgbClr val="92D050"/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 </a:t>
            </a:r>
            <a:r>
              <a:rPr lang="ru-RU" sz="2000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фаззинг виртуальных хостов</a:t>
            </a:r>
            <a:endParaRPr lang="en-US" sz="2000" dirty="0">
              <a:gradFill>
                <a:gsLst>
                  <a:gs pos="0">
                    <a:srgbClr val="B9E901"/>
                  </a:gs>
                  <a:gs pos="100000">
                    <a:srgbClr val="92D050"/>
                  </a:gs>
                </a:gsLst>
                <a:path path="circle">
                  <a:fillToRect l="50000" t="50000" r="50000" b="50000"/>
                </a:path>
              </a:gra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Aft>
                <a:spcPts val="1200"/>
              </a:spcAft>
              <a:tabLst>
                <a:tab pos="2955925" algn="l"/>
              </a:tabLst>
            </a:pPr>
            <a:r>
              <a:rPr lang="en-US" sz="2000" dirty="0">
                <a:gradFill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ssh:</a:t>
            </a:r>
            <a:r>
              <a:rPr lang="ru-RU" sz="2000" dirty="0">
                <a:gradFill>
                  <a:gsLst>
                    <a:gs pos="0">
                      <a:srgbClr val="B9E901"/>
                    </a:gs>
                    <a:gs pos="100000">
                      <a:srgbClr val="92D050"/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 </a:t>
            </a:r>
            <a:r>
              <a:rPr lang="ru-RU" sz="2000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вход по скомпрометированным учётным данным</a:t>
            </a:r>
            <a:endParaRPr lang="en-US" sz="2000" dirty="0">
              <a:gradFill>
                <a:gsLst>
                  <a:gs pos="0">
                    <a:srgbClr val="B9E901"/>
                  </a:gs>
                  <a:gs pos="100000">
                    <a:srgbClr val="92D050"/>
                  </a:gs>
                </a:gsLst>
                <a:path path="circle">
                  <a:fillToRect l="50000" t="50000" r="50000" b="50000"/>
                </a:path>
              </a:gra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Aft>
                <a:spcPts val="1200"/>
              </a:spcAft>
              <a:tabLst>
                <a:tab pos="2955925" algn="l"/>
              </a:tabLst>
            </a:pPr>
            <a:r>
              <a:rPr lang="en-US" sz="2000" dirty="0">
                <a:gradFill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hydra</a:t>
            </a:r>
            <a:r>
              <a:rPr lang="ru-RU" sz="2000" dirty="0">
                <a:gradFill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:</a:t>
            </a:r>
            <a:r>
              <a:rPr lang="ru-RU" sz="2000" dirty="0">
                <a:gradFill>
                  <a:gsLst>
                    <a:gs pos="0">
                      <a:srgbClr val="B9E901"/>
                    </a:gs>
                    <a:gs pos="100000">
                      <a:srgbClr val="92D050"/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 </a:t>
            </a:r>
            <a:r>
              <a:rPr lang="ru-RU" sz="2000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брутфорс пароля по словарю</a:t>
            </a:r>
            <a:endParaRPr lang="en-US" sz="2000" dirty="0">
              <a:gradFill>
                <a:gsLst>
                  <a:gs pos="0">
                    <a:srgbClr val="B9E901"/>
                  </a:gs>
                  <a:gs pos="100000">
                    <a:srgbClr val="92D050"/>
                  </a:gs>
                </a:gsLst>
                <a:path path="circle">
                  <a:fillToRect l="50000" t="50000" r="50000" b="50000"/>
                </a:path>
              </a:gra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Aft>
                <a:spcPts val="1200"/>
              </a:spcAft>
              <a:tabLst>
                <a:tab pos="2955925" algn="l"/>
              </a:tabLst>
            </a:pPr>
            <a:r>
              <a:rPr lang="ru-RU" sz="2000" dirty="0">
                <a:gradFill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Зачистка логов и бэкдор</a:t>
            </a:r>
            <a:r>
              <a:rPr lang="en-US" sz="2000" dirty="0">
                <a:gradFill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:</a:t>
            </a:r>
            <a:r>
              <a:rPr lang="ru-RU" sz="2000" dirty="0">
                <a:gradFill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 </a:t>
            </a:r>
            <a:r>
              <a:rPr lang="ru-RU" sz="2000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повышение прав и изменение файлов</a:t>
            </a:r>
            <a:endParaRPr lang="en-US" sz="2000" dirty="0">
              <a:gradFill>
                <a:gsLst>
                  <a:gs pos="0">
                    <a:srgbClr val="B9E901"/>
                  </a:gs>
                  <a:gs pos="100000">
                    <a:srgbClr val="92D050"/>
                  </a:gs>
                </a:gsLst>
                <a:path path="circle">
                  <a:fillToRect l="50000" t="50000" r="50000" b="50000"/>
                </a:path>
              </a:gra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Aft>
                <a:spcPts val="1200"/>
              </a:spcAft>
              <a:tabLst>
                <a:tab pos="2955925" algn="l"/>
              </a:tabLst>
            </a:pPr>
            <a:r>
              <a:rPr lang="ru-RU" sz="2000" dirty="0">
                <a:gradFill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Чтение правил </a:t>
            </a:r>
            <a:r>
              <a:rPr lang="en-US" sz="2000" dirty="0">
                <a:gradFill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wazuh</a:t>
            </a:r>
            <a:r>
              <a:rPr lang="ru-RU" sz="2000" dirty="0">
                <a:gradFill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: </a:t>
            </a:r>
            <a:r>
              <a:rPr lang="ru-RU" sz="2000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поиск правил мониторинга логов</a:t>
            </a:r>
            <a:endParaRPr lang="en-US" sz="2000" dirty="0">
              <a:gradFill>
                <a:gsLst>
                  <a:gs pos="0">
                    <a:srgbClr val="B9E901"/>
                  </a:gs>
                  <a:gs pos="100000">
                    <a:srgbClr val="92D050"/>
                  </a:gs>
                </a:gsLst>
                <a:path path="circle">
                  <a:fillToRect l="50000" t="50000" r="50000" b="50000"/>
                </a:path>
              </a:gra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1BC76E36-81FC-F419-6561-F4F4C499F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678478" y="-132169"/>
            <a:ext cx="6115682" cy="731520"/>
          </a:xfrm>
          <a:scene3d>
            <a:camera prst="orthographicFront">
              <a:rot lat="0" lon="0" rev="0"/>
            </a:camera>
            <a:lightRig rig="threePt" dir="t"/>
          </a:scene3d>
          <a:sp3d z="177800"/>
        </p:spPr>
        <p:txBody>
          <a:bodyPr>
            <a:noAutofit/>
          </a:bodyPr>
          <a:lstStyle/>
          <a:p>
            <a:pPr algn="r"/>
            <a:r>
              <a:rPr lang="ru-RU" sz="2800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Проведенные атаки</a:t>
            </a:r>
            <a:endParaRPr lang="ru-RU" sz="4800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113FDEF-BAF4-5948-2D14-1E755C6D4C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67" t="9850" r="12167" b="9346"/>
          <a:stretch>
            <a:fillRect/>
          </a:stretch>
        </p:blipFill>
        <p:spPr>
          <a:xfrm>
            <a:off x="6132786" y="729403"/>
            <a:ext cx="2981245" cy="3020115"/>
          </a:xfrm>
          <a:prstGeom prst="rect">
            <a:avLst/>
          </a:prstGeom>
          <a:effectLst>
            <a:glow rad="152400">
              <a:schemeClr val="bg1">
                <a:alpha val="13000"/>
              </a:schemeClr>
            </a:glow>
          </a:effectLst>
        </p:spPr>
      </p:pic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12809E2B-6FA4-E325-3715-BAE008609487}"/>
              </a:ext>
            </a:extLst>
          </p:cNvPr>
          <p:cNvGrpSpPr/>
          <p:nvPr/>
        </p:nvGrpSpPr>
        <p:grpSpPr>
          <a:xfrm>
            <a:off x="6246573" y="4136469"/>
            <a:ext cx="6346659" cy="2133982"/>
            <a:chOff x="6246573" y="4136469"/>
            <a:chExt cx="6346659" cy="213398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E38D959-C565-60A3-867E-325573B16A6F}"/>
                </a:ext>
              </a:extLst>
            </p:cNvPr>
            <p:cNvSpPr txBox="1"/>
            <p:nvPr/>
          </p:nvSpPr>
          <p:spPr>
            <a:xfrm>
              <a:off x="6504567" y="4136469"/>
              <a:ext cx="6088665" cy="2133982"/>
            </a:xfrm>
            <a:prstGeom prst="rect">
              <a:avLst/>
            </a:prstGeom>
            <a:noFill/>
          </p:spPr>
          <p:txBody>
            <a:bodyPr wrap="square" numCol="2" rtlCol="0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Password Guessing</a:t>
              </a:r>
            </a:p>
            <a:p>
              <a:pPr>
                <a:spcAft>
                  <a:spcPts val="1200"/>
                </a:spcAft>
              </a:pP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SSH</a:t>
              </a:r>
            </a:p>
            <a:p>
              <a:pPr>
                <a:spcAft>
                  <a:spcPts val="1200"/>
                </a:spcAft>
              </a:pP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Valid Accounts</a:t>
              </a:r>
            </a:p>
            <a:p>
              <a:pPr>
                <a:spcAft>
                  <a:spcPts val="1200"/>
                </a:spcAft>
              </a:pP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Sudo and Sudo Caching</a:t>
              </a:r>
            </a:p>
            <a:p>
              <a:pPr>
                <a:spcAft>
                  <a:spcPts val="1200"/>
                </a:spcAft>
              </a:pP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Brute Force</a:t>
              </a:r>
            </a:p>
            <a:p>
              <a:pPr>
                <a:spcAft>
                  <a:spcPts val="1200"/>
                </a:spcAft>
              </a:pP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Remote Services</a:t>
              </a:r>
            </a:p>
            <a:p>
              <a:pPr>
                <a:spcAft>
                  <a:spcPts val="1200"/>
                </a:spcAft>
              </a:pP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Create Account</a:t>
              </a:r>
            </a:p>
            <a:p>
              <a:pPr>
                <a:spcAft>
                  <a:spcPts val="1200"/>
                </a:spcAft>
              </a:pP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Exploitation for client</a:t>
              </a:r>
            </a:p>
            <a:p>
              <a:pPr>
                <a:spcAft>
                  <a:spcPts val="1200"/>
                </a:spcAft>
              </a:pP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Exploitation for </a:t>
              </a:r>
            </a:p>
            <a:p>
              <a:pPr>
                <a:spcAft>
                  <a:spcPts val="1200"/>
                </a:spcAft>
              </a:pP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Priveleged Users</a:t>
              </a:r>
              <a:endParaRPr lang="ru-RU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DBBD5F22-82CA-1AEC-BA39-E0F9D02BEB6E}"/>
                </a:ext>
              </a:extLst>
            </p:cNvPr>
            <p:cNvSpPr/>
            <p:nvPr/>
          </p:nvSpPr>
          <p:spPr>
            <a:xfrm>
              <a:off x="6246575" y="4220929"/>
              <a:ext cx="257993" cy="257993"/>
            </a:xfrm>
            <a:prstGeom prst="ellipse">
              <a:avLst/>
            </a:prstGeom>
            <a:solidFill>
              <a:srgbClr val="E766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4DB0AFB7-F270-F98A-DC5A-C61F02E44CEE}"/>
                </a:ext>
              </a:extLst>
            </p:cNvPr>
            <p:cNvSpPr/>
            <p:nvPr/>
          </p:nvSpPr>
          <p:spPr>
            <a:xfrm>
              <a:off x="6246573" y="4650365"/>
              <a:ext cx="257993" cy="257993"/>
            </a:xfrm>
            <a:prstGeom prst="ellipse">
              <a:avLst/>
            </a:prstGeom>
            <a:solidFill>
              <a:srgbClr val="A9D8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787943DF-2D14-4379-6F04-2D543D27DE28}"/>
                </a:ext>
              </a:extLst>
            </p:cNvPr>
            <p:cNvSpPr/>
            <p:nvPr/>
          </p:nvSpPr>
          <p:spPr>
            <a:xfrm>
              <a:off x="6246573" y="5079801"/>
              <a:ext cx="257993" cy="257993"/>
            </a:xfrm>
            <a:prstGeom prst="ellipse">
              <a:avLst/>
            </a:prstGeom>
            <a:solidFill>
              <a:srgbClr val="AFC8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F37A2BD7-D90D-AF3D-4054-4A68254F962C}"/>
                </a:ext>
              </a:extLst>
            </p:cNvPr>
            <p:cNvSpPr/>
            <p:nvPr/>
          </p:nvSpPr>
          <p:spPr>
            <a:xfrm>
              <a:off x="6249918" y="5497969"/>
              <a:ext cx="257993" cy="257993"/>
            </a:xfrm>
            <a:prstGeom prst="ellipse">
              <a:avLst/>
            </a:prstGeom>
            <a:solidFill>
              <a:srgbClr val="E8AFC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29276AA0-B8DB-B15A-553F-F2162010E868}"/>
                </a:ext>
              </a:extLst>
            </p:cNvPr>
            <p:cNvSpPr/>
            <p:nvPr/>
          </p:nvSpPr>
          <p:spPr>
            <a:xfrm>
              <a:off x="6246573" y="5922448"/>
              <a:ext cx="257993" cy="257993"/>
            </a:xfrm>
            <a:prstGeom prst="ellipse">
              <a:avLst/>
            </a:prstGeom>
            <a:solidFill>
              <a:srgbClr val="C7B7D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A6382F34-9C75-D45C-1038-D24312BD268C}"/>
                </a:ext>
              </a:extLst>
            </p:cNvPr>
            <p:cNvSpPr/>
            <p:nvPr/>
          </p:nvSpPr>
          <p:spPr>
            <a:xfrm>
              <a:off x="9227820" y="4220929"/>
              <a:ext cx="257993" cy="257993"/>
            </a:xfrm>
            <a:prstGeom prst="ellipse">
              <a:avLst/>
            </a:prstGeom>
            <a:solidFill>
              <a:srgbClr val="E5C7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id="{D73D0250-B30E-0EB5-715D-829F00EDF19B}"/>
                </a:ext>
              </a:extLst>
            </p:cNvPr>
            <p:cNvSpPr/>
            <p:nvPr/>
          </p:nvSpPr>
          <p:spPr>
            <a:xfrm>
              <a:off x="9227818" y="4650365"/>
              <a:ext cx="257993" cy="257993"/>
            </a:xfrm>
            <a:prstGeom prst="ellipse">
              <a:avLst/>
            </a:prstGeom>
            <a:solidFill>
              <a:srgbClr val="EBDF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Овал 22">
              <a:extLst>
                <a:ext uri="{FF2B5EF4-FFF2-40B4-BE49-F238E27FC236}">
                  <a16:creationId xmlns:a16="http://schemas.microsoft.com/office/drawing/2014/main" id="{45161175-3E7C-A05E-AF8D-A096F3F912D5}"/>
                </a:ext>
              </a:extLst>
            </p:cNvPr>
            <p:cNvSpPr/>
            <p:nvPr/>
          </p:nvSpPr>
          <p:spPr>
            <a:xfrm>
              <a:off x="9227818" y="5079801"/>
              <a:ext cx="257993" cy="257993"/>
            </a:xfrm>
            <a:prstGeom prst="ellipse">
              <a:avLst/>
            </a:prstGeom>
            <a:solidFill>
              <a:srgbClr val="EDC5A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Овал 23">
              <a:extLst>
                <a:ext uri="{FF2B5EF4-FFF2-40B4-BE49-F238E27FC236}">
                  <a16:creationId xmlns:a16="http://schemas.microsoft.com/office/drawing/2014/main" id="{3D062C40-35FC-22FB-A7EE-5B8CE7E60949}"/>
                </a:ext>
              </a:extLst>
            </p:cNvPr>
            <p:cNvSpPr/>
            <p:nvPr/>
          </p:nvSpPr>
          <p:spPr>
            <a:xfrm>
              <a:off x="9231163" y="5497969"/>
              <a:ext cx="257993" cy="257993"/>
            </a:xfrm>
            <a:prstGeom prst="ellipse">
              <a:avLst/>
            </a:prstGeom>
            <a:solidFill>
              <a:srgbClr val="D5B2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5161935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526B5-1D32-2175-BC16-438FFD927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229623E-5290-E371-A2DA-43C9F75E5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265572" cy="6977636"/>
          </a:xfrm>
          <a:prstGeom prst="rect">
            <a:avLst/>
          </a:prstGeom>
        </p:spPr>
      </p:pic>
      <p:sp useBgFill="1"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10E7C9D6-9568-92FE-8E75-D1874B23F672}"/>
              </a:ext>
            </a:extLst>
          </p:cNvPr>
          <p:cNvSpPr/>
          <p:nvPr/>
        </p:nvSpPr>
        <p:spPr>
          <a:xfrm>
            <a:off x="1849120" y="137794"/>
            <a:ext cx="8503920" cy="6720205"/>
          </a:xfrm>
          <a:prstGeom prst="roundRect">
            <a:avLst>
              <a:gd name="adj" fmla="val 1932"/>
            </a:avLst>
          </a:prstGeom>
          <a:ln w="38100">
            <a:gradFill flip="none" rotWithShape="1">
              <a:gsLst>
                <a:gs pos="0">
                  <a:srgbClr val="212121"/>
                </a:gs>
                <a:gs pos="100000">
                  <a:srgbClr val="202020"/>
                </a:gs>
              </a:gsLst>
              <a:lin ang="16200000" scaled="1"/>
              <a:tileRect/>
            </a:gradFill>
          </a:ln>
          <a:scene3d>
            <a:camera prst="orthographicFront"/>
            <a:lightRig rig="threePt" dir="t"/>
          </a:scene3d>
          <a:sp3d>
            <a:bevelT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tabLst>
                <a:tab pos="2955925" algn="l"/>
              </a:tabLst>
            </a:pPr>
            <a:endParaRPr lang="ru-RU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800C28A-4796-9F03-EEB1-B60538DE8E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634"/>
          <a:stretch>
            <a:fillRect/>
          </a:stretch>
        </p:blipFill>
        <p:spPr bwMode="auto">
          <a:xfrm>
            <a:off x="2076942" y="137795"/>
            <a:ext cx="8038116" cy="2859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FB812A20-9754-11D5-7C0A-19CC12460B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83"/>
          <a:stretch>
            <a:fillRect/>
          </a:stretch>
        </p:blipFill>
        <p:spPr bwMode="auto">
          <a:xfrm>
            <a:off x="2076942" y="3134994"/>
            <a:ext cx="8038067" cy="3499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7BD379F2-F6AE-B4FF-CBDB-F302C5917F04}"/>
              </a:ext>
            </a:extLst>
          </p:cNvPr>
          <p:cNvSpPr/>
          <p:nvPr/>
        </p:nvSpPr>
        <p:spPr>
          <a:xfrm>
            <a:off x="4236719" y="355601"/>
            <a:ext cx="5791201" cy="1005840"/>
          </a:xfrm>
          <a:prstGeom prst="roundRect">
            <a:avLst/>
          </a:prstGeom>
          <a:solidFill>
            <a:schemeClr val="accent1">
              <a:alpha val="0"/>
            </a:schemeClr>
          </a:solidFill>
          <a:ln w="50800">
            <a:gradFill flip="none" rotWithShape="1">
              <a:gsLst>
                <a:gs pos="2000">
                  <a:srgbClr val="B9E901"/>
                </a:gs>
                <a:gs pos="100000">
                  <a:srgbClr val="83D34A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76D52C34-E273-59FF-50F7-4D79488585EC}"/>
              </a:ext>
            </a:extLst>
          </p:cNvPr>
          <p:cNvSpPr/>
          <p:nvPr/>
        </p:nvSpPr>
        <p:spPr>
          <a:xfrm>
            <a:off x="4551631" y="3429000"/>
            <a:ext cx="5476290" cy="1153160"/>
          </a:xfrm>
          <a:prstGeom prst="roundRect">
            <a:avLst/>
          </a:prstGeom>
          <a:solidFill>
            <a:schemeClr val="accent1">
              <a:alpha val="0"/>
            </a:schemeClr>
          </a:solidFill>
          <a:ln w="50800">
            <a:gradFill flip="none" rotWithShape="1">
              <a:gsLst>
                <a:gs pos="2000">
                  <a:srgbClr val="B9E901"/>
                </a:gs>
                <a:gs pos="100000">
                  <a:srgbClr val="83D34A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2302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0DE60-C071-F3CA-87D1-D2FBA57B0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F29DC58-6F0C-E450-6EFE-D6D00A1F4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265572" cy="6977636"/>
          </a:xfrm>
          <a:prstGeom prst="rect">
            <a:avLst/>
          </a:prstGeom>
        </p:spPr>
      </p:pic>
      <p:sp useBgFill="1"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087C4C7F-BFDE-46CC-BA80-7C9240A17612}"/>
              </a:ext>
            </a:extLst>
          </p:cNvPr>
          <p:cNvSpPr/>
          <p:nvPr/>
        </p:nvSpPr>
        <p:spPr>
          <a:xfrm>
            <a:off x="1310640" y="168274"/>
            <a:ext cx="9540240" cy="6517005"/>
          </a:xfrm>
          <a:prstGeom prst="roundRect">
            <a:avLst>
              <a:gd name="adj" fmla="val 1932"/>
            </a:avLst>
          </a:prstGeom>
          <a:ln w="38100">
            <a:gradFill flip="none" rotWithShape="1">
              <a:gsLst>
                <a:gs pos="0">
                  <a:srgbClr val="212121"/>
                </a:gs>
                <a:gs pos="100000">
                  <a:srgbClr val="202020"/>
                </a:gs>
              </a:gsLst>
              <a:lin ang="16200000" scaled="1"/>
              <a:tileRect/>
            </a:gradFill>
          </a:ln>
          <a:scene3d>
            <a:camera prst="orthographicFront"/>
            <a:lightRig rig="threePt" dir="t"/>
          </a:scene3d>
          <a:sp3d>
            <a:bevelT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tabLst>
                <a:tab pos="2955925" algn="l"/>
              </a:tabLst>
            </a:pPr>
            <a:endParaRPr lang="ru-RU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73ECCE9-CD86-1EDB-FC91-3A6E9758C0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879"/>
          <a:stretch>
            <a:fillRect/>
          </a:stretch>
        </p:blipFill>
        <p:spPr bwMode="auto">
          <a:xfrm>
            <a:off x="1559110" y="360043"/>
            <a:ext cx="9073780" cy="6106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3417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3DD06-AD53-E261-E274-92F1A59E6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3E3EB75-AF09-AFBD-F34E-38C29759A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265572" cy="6977636"/>
          </a:xfrm>
          <a:prstGeom prst="rect">
            <a:avLst/>
          </a:prstGeo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A6A0F92E-EFD7-326A-9FD1-954EBC25A7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78" y="3488817"/>
            <a:ext cx="10627362" cy="701625"/>
          </a:xfrm>
          <a:scene3d>
            <a:camera prst="orthographicFront">
              <a:rot lat="0" lon="0" rev="0"/>
            </a:camera>
            <a:lightRig rig="threePt" dir="t"/>
          </a:scene3d>
          <a:sp3d z="177800"/>
        </p:spPr>
        <p:txBody>
          <a:bodyPr>
            <a:noAutofit/>
          </a:bodyPr>
          <a:lstStyle/>
          <a:p>
            <a:pPr algn="l"/>
            <a:r>
              <a:rPr lang="ru-RU" sz="4000" dirty="0">
                <a:gradFill>
                  <a:gsLst>
                    <a:gs pos="0">
                      <a:srgbClr val="B9E901"/>
                    </a:gs>
                    <a:gs pos="100000">
                      <a:srgbClr val="92D050"/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Итог: инвестиция в безопасность</a:t>
            </a:r>
            <a:endParaRPr lang="ru-RU" dirty="0">
              <a:gradFill>
                <a:gsLst>
                  <a:gs pos="0">
                    <a:srgbClr val="B9E901"/>
                  </a:gs>
                  <a:gs pos="100000">
                    <a:srgbClr val="92D050"/>
                  </a:gs>
                </a:gsLst>
                <a:path path="circle">
                  <a:fillToRect l="50000" t="50000" r="50000" b="50000"/>
                </a:path>
              </a:gradFill>
              <a:latin typeface="Arial Black" panose="020B0A04020102020204" pitchFamily="34" charset="0"/>
            </a:endParaRPr>
          </a:p>
        </p:txBody>
      </p:sp>
      <p:sp useBgFill="1"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C3CDA5B6-177E-8B9D-ACAE-C700778E3AA3}"/>
              </a:ext>
            </a:extLst>
          </p:cNvPr>
          <p:cNvSpPr/>
          <p:nvPr/>
        </p:nvSpPr>
        <p:spPr>
          <a:xfrm>
            <a:off x="197522" y="4359225"/>
            <a:ext cx="3689276" cy="1650471"/>
          </a:xfrm>
          <a:prstGeom prst="roundRect">
            <a:avLst/>
          </a:prstGeom>
          <a:ln w="38100">
            <a:gradFill flip="none" rotWithShape="1">
              <a:gsLst>
                <a:gs pos="0">
                  <a:srgbClr val="212121"/>
                </a:gs>
                <a:gs pos="100000">
                  <a:srgbClr val="202020"/>
                </a:gs>
              </a:gsLst>
              <a:lin ang="16200000" scaled="1"/>
              <a:tileRect/>
            </a:gradFill>
          </a:ln>
          <a:scene3d>
            <a:camera prst="orthographicFront"/>
            <a:lightRig rig="threePt" dir="t"/>
          </a:scene3d>
          <a:sp3d>
            <a:bevelT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tabLst>
                <a:tab pos="2955925" algn="l"/>
              </a:tabLst>
            </a:pPr>
            <a:r>
              <a:rPr lang="ru-RU" sz="1950" dirty="0">
                <a:gradFill>
                  <a:gsLst>
                    <a:gs pos="0">
                      <a:srgbClr val="B9E901"/>
                    </a:gs>
                    <a:gs pos="100000">
                      <a:srgbClr val="92D050"/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Подрядчик — частый “вход” в сеть</a:t>
            </a:r>
          </a:p>
          <a:p>
            <a:pPr algn="ctr">
              <a:tabLst>
                <a:tab pos="2955925" algn="l"/>
              </a:tabLst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нужен не разовый аудит, а непрерывный мониторинг</a:t>
            </a:r>
            <a:endParaRPr lang="ru-RU" sz="1600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 useBgFill="1"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EF3FB985-61D1-91AD-2E8D-39A341D52ADA}"/>
              </a:ext>
            </a:extLst>
          </p:cNvPr>
          <p:cNvSpPr/>
          <p:nvPr/>
        </p:nvSpPr>
        <p:spPr>
          <a:xfrm>
            <a:off x="4012915" y="4359225"/>
            <a:ext cx="4186205" cy="1650471"/>
          </a:xfrm>
          <a:prstGeom prst="roundRect">
            <a:avLst/>
          </a:prstGeom>
          <a:ln w="38100">
            <a:gradFill flip="none" rotWithShape="1">
              <a:gsLst>
                <a:gs pos="0">
                  <a:srgbClr val="212121"/>
                </a:gs>
                <a:gs pos="100000">
                  <a:srgbClr val="202020"/>
                </a:gs>
              </a:gsLst>
              <a:lin ang="16200000" scaled="1"/>
              <a:tileRect/>
            </a:gradFill>
          </a:ln>
          <a:scene3d>
            <a:camera prst="orthographicFront"/>
            <a:lightRig rig="threePt" dir="t"/>
          </a:scene3d>
          <a:sp3d>
            <a:bevelT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tabLst>
                <a:tab pos="2955925" algn="l"/>
              </a:tabLst>
            </a:pPr>
            <a:r>
              <a:rPr lang="ru-RU" sz="1950" dirty="0">
                <a:gradFill>
                  <a:gsLst>
                    <a:gs pos="0">
                      <a:srgbClr val="B9E901"/>
                    </a:gs>
                    <a:gs pos="100000">
                      <a:srgbClr val="92D050"/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Рейтинг риска превращает ИБ в управляемую метрику </a:t>
            </a:r>
          </a:p>
          <a:p>
            <a:pPr algn="ctr">
              <a:tabLst>
                <a:tab pos="2955925" algn="l"/>
              </a:tabLst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допуск / ограничение / блокировка</a:t>
            </a:r>
            <a:endParaRPr lang="ru-RU" sz="1600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 useBgFill="1"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48EB8063-E0EE-5589-E28B-319F588003B9}"/>
              </a:ext>
            </a:extLst>
          </p:cNvPr>
          <p:cNvSpPr/>
          <p:nvPr/>
        </p:nvSpPr>
        <p:spPr>
          <a:xfrm>
            <a:off x="8325237" y="4359225"/>
            <a:ext cx="3669241" cy="1650471"/>
          </a:xfrm>
          <a:prstGeom prst="roundRect">
            <a:avLst/>
          </a:prstGeom>
          <a:ln w="38100">
            <a:gradFill flip="none" rotWithShape="1">
              <a:gsLst>
                <a:gs pos="0">
                  <a:srgbClr val="212121"/>
                </a:gs>
                <a:gs pos="100000">
                  <a:srgbClr val="202020"/>
                </a:gs>
              </a:gsLst>
              <a:lin ang="16200000" scaled="1"/>
              <a:tileRect/>
            </a:gradFill>
          </a:ln>
          <a:scene3d>
            <a:camera prst="orthographicFront"/>
            <a:lightRig rig="threePt" dir="t"/>
          </a:scene3d>
          <a:sp3d>
            <a:bevelT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tabLst>
                <a:tab pos="2955925" algn="l"/>
              </a:tabLst>
            </a:pPr>
            <a:r>
              <a:rPr lang="en-US" sz="1950" dirty="0">
                <a:gradFill>
                  <a:gsLst>
                    <a:gs pos="0">
                      <a:srgbClr val="B9E901"/>
                    </a:gs>
                    <a:gs pos="100000">
                      <a:srgbClr val="92D050"/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Open Source‑</a:t>
            </a:r>
            <a:r>
              <a:rPr lang="ru-RU" sz="1950" dirty="0">
                <a:gradFill>
                  <a:gsLst>
                    <a:gs pos="0">
                      <a:srgbClr val="B9E901"/>
                    </a:gs>
                    <a:gs pos="100000">
                      <a:srgbClr val="92D050"/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стек </a:t>
            </a:r>
            <a:r>
              <a:rPr lang="en-US" sz="1950" dirty="0">
                <a:gradFill>
                  <a:gsLst>
                    <a:gs pos="0">
                      <a:srgbClr val="B9E901"/>
                    </a:gs>
                    <a:gs pos="100000">
                      <a:srgbClr val="92D050"/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Wazuh + pfSense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algn="ctr">
              <a:tabLst>
                <a:tab pos="2955925" algn="l"/>
              </a:tabLst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дает бюджетный контроль взаимодействия</a:t>
            </a:r>
            <a:endParaRPr lang="ru-RU" sz="1600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72A3B8B4-2075-73F6-C5B9-E516114B8A32}"/>
              </a:ext>
            </a:extLst>
          </p:cNvPr>
          <p:cNvSpPr txBox="1">
            <a:spLocks/>
          </p:cNvSpPr>
          <p:nvPr/>
        </p:nvSpPr>
        <p:spPr>
          <a:xfrm>
            <a:off x="335279" y="633812"/>
            <a:ext cx="5527040" cy="707887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  <a:sp3d z="177800"/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tabLst>
                <a:tab pos="2955925" algn="l"/>
              </a:tabLst>
            </a:pPr>
            <a:r>
              <a:rPr lang="ru-RU" sz="4100" dirty="0">
                <a:gradFill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50000" t="50000" r="50000" b="50000"/>
                  </a:path>
                </a:gradFill>
                <a:latin typeface="Arial Black" panose="020B0A04020102020204" pitchFamily="34" charset="0"/>
              </a:rPr>
              <a:t>Реализовано</a:t>
            </a:r>
            <a:endParaRPr lang="ru-RU" sz="5400" dirty="0">
              <a:gradFill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100000">
                    <a:schemeClr val="accent5">
                      <a:lumMod val="75000"/>
                    </a:schemeClr>
                  </a:gs>
                </a:gsLst>
                <a:path path="circle">
                  <a:fillToRect l="50000" t="50000" r="50000" b="50000"/>
                </a:path>
              </a:gradFill>
              <a:latin typeface="Arial Black" panose="020B0A040201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91291D-BE68-B14F-1C07-63BE174BCA77}"/>
              </a:ext>
            </a:extLst>
          </p:cNvPr>
          <p:cNvSpPr txBox="1"/>
          <p:nvPr/>
        </p:nvSpPr>
        <p:spPr>
          <a:xfrm>
            <a:off x="335278" y="1341699"/>
            <a:ext cx="6339841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tabLst>
                <a:tab pos="893763" algn="l"/>
              </a:tabLst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Виртуальный стенд “Заказчик–Подрядчик”</a:t>
            </a:r>
          </a:p>
          <a:p>
            <a:pPr>
              <a:spcAft>
                <a:spcPts val="600"/>
              </a:spcAft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Мониторинг событий: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Wazuh (SIEM/XDR)</a:t>
            </a:r>
          </a:p>
          <a:p>
            <a:pPr>
              <a:spcAft>
                <a:spcPts val="600"/>
              </a:spcAft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Периметр и сегментация: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pfSense + 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логирование</a:t>
            </a:r>
          </a:p>
          <a:p>
            <a:pPr>
              <a:spcAft>
                <a:spcPts val="600"/>
              </a:spcAft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Динамический рейтинг риска + оповещения и реакция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5719501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1123</TotalTime>
  <Words>591</Words>
  <Application>Microsoft Office PowerPoint</Application>
  <PresentationFormat>Широкоэкранный</PresentationFormat>
  <Paragraphs>133</Paragraphs>
  <Slides>15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3" baseType="lpstr">
      <vt:lpstr>Arial</vt:lpstr>
      <vt:lpstr>Arial Black</vt:lpstr>
      <vt:lpstr>Bahnschrift SemiBold SemiConden</vt:lpstr>
      <vt:lpstr>Calibri</vt:lpstr>
      <vt:lpstr>Calibri Light</vt:lpstr>
      <vt:lpstr>Cambria Math</vt:lpstr>
      <vt:lpstr>Tahoma</vt:lpstr>
      <vt:lpstr>Тема Office</vt:lpstr>
      <vt:lpstr>Проект «Безопасный подрядчик»</vt:lpstr>
      <vt:lpstr>Актуальность  проблемы</vt:lpstr>
      <vt:lpstr>Продукт проекта</vt:lpstr>
      <vt:lpstr>Архитектура стенда</vt:lpstr>
      <vt:lpstr>Взаимодействие</vt:lpstr>
      <vt:lpstr>Использованные  решения</vt:lpstr>
      <vt:lpstr>pfSense</vt:lpstr>
      <vt:lpstr>Классификация событий</vt:lpstr>
      <vt:lpstr>Классификация событий</vt:lpstr>
      <vt:lpstr>Формула рейтингования</vt:lpstr>
      <vt:lpstr>База данных с рейтингом подрядчиков</vt:lpstr>
      <vt:lpstr>Проведенные атаки</vt:lpstr>
      <vt:lpstr>Презентация PowerPoint</vt:lpstr>
      <vt:lpstr>Презентация PowerPoint</vt:lpstr>
      <vt:lpstr>Итог: инвестиция в безопасность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Михаил Симанов</dc:creator>
  <cp:lastModifiedBy>melon</cp:lastModifiedBy>
  <cp:revision>17</cp:revision>
  <dcterms:created xsi:type="dcterms:W3CDTF">2025-12-11T02:19:20Z</dcterms:created>
  <dcterms:modified xsi:type="dcterms:W3CDTF">2026-10-15T10:13:59Z</dcterms:modified>
</cp:coreProperties>
</file>